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44"/>
  </p:notesMasterIdLst>
  <p:handoutMasterIdLst>
    <p:handoutMasterId r:id="rId4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85" r:id="rId12"/>
    <p:sldId id="263" r:id="rId13"/>
    <p:sldId id="289" r:id="rId14"/>
    <p:sldId id="286" r:id="rId15"/>
    <p:sldId id="287" r:id="rId16"/>
    <p:sldId id="288" r:id="rId17"/>
    <p:sldId id="264" r:id="rId18"/>
    <p:sldId id="290" r:id="rId19"/>
    <p:sldId id="291" r:id="rId20"/>
    <p:sldId id="292" r:id="rId21"/>
    <p:sldId id="293" r:id="rId22"/>
    <p:sldId id="29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E1DF"/>
    <a:srgbClr val="E7F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9" autoAdjust="0"/>
    <p:restoredTop sz="63034"/>
  </p:normalViewPr>
  <p:slideViewPr>
    <p:cSldViewPr snapToGrid="0" snapToObjects="1" showGuides="1">
      <p:cViewPr>
        <p:scale>
          <a:sx n="100" d="100"/>
          <a:sy n="100" d="100"/>
        </p:scale>
        <p:origin x="296" y="68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50" d="100"/>
          <a:sy n="150" d="100"/>
        </p:scale>
        <p:origin x="6080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notesMaster" Target="notesMasters/notesMaster1.xml"/><Relationship Id="rId45" Type="http://schemas.openxmlformats.org/officeDocument/2006/relationships/handoutMaster" Target="handoutMasters/handout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79B33-A94D-4C8C-88C2-619932967EF3}" type="datetimeFigureOut">
              <a:rPr lang="fr-CH" smtClean="0">
                <a:latin typeface="Arial" panose="020B0604020202020204" pitchFamily="34" charset="0"/>
              </a:rPr>
              <a:t>17.07.26</a:t>
            </a:fld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F4AF0-8439-436D-BEF0-52070F19E1B6}" type="slidenum">
              <a:rPr lang="fr-CH" smtClean="0">
                <a:latin typeface="Arial" panose="020B0604020202020204" pitchFamily="34" charset="0"/>
              </a:rPr>
              <a:t>‹#›</a:t>
            </a:fld>
            <a:endParaRPr lang="fr-CH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905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8103E42-5239-1A40-AD33-3EE7E9DDF5FD}" type="datetimeFigureOut">
              <a:rPr lang="fr-FR" smtClean="0"/>
              <a:pPr/>
              <a:t>17/07/2026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CF50783-AAED-1941-8BCC-9F6140F0A6B1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674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6727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82BD4-482E-8062-46F1-164062F46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C24D3-1156-FDB5-CD71-B30ADEDCF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71095-B054-660B-B19F-E004E5ECD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24B4B-246C-F316-67EB-2312A273D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67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8196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73590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4CF6F629-51E7-9F40-939D-F50AE3925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1913" y="0"/>
            <a:ext cx="7812087" cy="49482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5563" y="786535"/>
            <a:ext cx="2738437" cy="2338387"/>
          </a:xfrm>
          <a:solidFill>
            <a:schemeClr val="accent1"/>
          </a:solidFill>
        </p:spPr>
        <p:txBody>
          <a:bodyPr lIns="216000" anchor="ctr" anchorCtr="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63" y="3124922"/>
            <a:ext cx="1828800" cy="1568450"/>
          </a:xfrm>
          <a:solidFill>
            <a:schemeClr val="tx1"/>
          </a:solidFill>
        </p:spPr>
        <p:txBody>
          <a:bodyPr lIns="9000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35A482-EC85-1C41-A1E4-7882A0E39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47" y="80283"/>
            <a:ext cx="1175301" cy="508655"/>
          </a:xfrm>
          <a:prstGeom prst="rect">
            <a:avLst/>
          </a:prstGeom>
        </p:spPr>
      </p:pic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4683125"/>
            <a:ext cx="1828800" cy="460375"/>
          </a:xfrm>
          <a:solidFill>
            <a:schemeClr val="bg1"/>
          </a:solidFill>
        </p:spPr>
        <p:txBody>
          <a:bodyPr lIns="90000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187583-F16A-6F41-8B68-000F9C9C20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550" y="4440264"/>
            <a:ext cx="698500" cy="507975"/>
          </a:xfrm>
        </p:spPr>
        <p:txBody>
          <a:bodyPr lIns="0" tIns="0" rIns="0" bIns="0" anchor="b" anchorCtr="0">
            <a:noAutofit/>
          </a:bodyPr>
          <a:lstStyle>
            <a:lvl1pPr marL="114300" indent="-107950">
              <a:buFontTx/>
              <a:buBlip>
                <a:blip r:embed="rId3"/>
              </a:buBlip>
              <a:tabLst/>
              <a:defRPr sz="7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77880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126" userDrawn="1">
          <p15:clr>
            <a:srgbClr val="FBAE40"/>
          </p15:clr>
        </p15:guide>
        <p15:guide id="5" orient="horz" pos="123" userDrawn="1">
          <p15:clr>
            <a:srgbClr val="FBAE40"/>
          </p15:clr>
        </p15:guide>
        <p15:guide id="6" orient="horz" pos="3117" userDrawn="1">
          <p15:clr>
            <a:srgbClr val="FBAE40"/>
          </p15:clr>
        </p15:guide>
        <p15:guide id="7" pos="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886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8177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222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A30C78BE-DAD0-D748-8B93-AD898D00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131A8490-33AC-9443-A9FC-9A5E9322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875139C-6471-774D-89EF-2B93FAD2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942AF23-4BDC-8C4A-9212-AF88439C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9627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0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5F20A3C-6DA6-684F-8F84-A7C8F133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33A2CC-2D27-AE47-AE09-87A5F61228B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ABC000E-4E22-1A40-9D3F-FE2F141E5C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0AF49D93-C78A-F646-92B0-A7932C43D9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318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6" y="131032"/>
            <a:ext cx="3144520" cy="1072753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69895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9395" y="131032"/>
            <a:ext cx="3144520" cy="1072753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3142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1563688"/>
            <a:ext cx="3144838" cy="3579812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C026A30B-6F8E-1445-88F0-A5FB77E1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826567D5-4A83-9E48-B441-CCB2A72BA6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830A539-93F1-2541-B9F0-330893BD51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82F21D18-8706-7E4D-8FBE-C1E2584541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4545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875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9772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6897D737-724C-984A-82E1-2A2DBD5F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E34C2B73-67B7-BB4C-AE0F-7D16D8DDD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9FF6AA9-AC16-D748-B815-56221BFFF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D59D891-3F23-D04C-AB43-6FA4220A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670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9BFFD8D9-6AAA-B44F-8BD5-98D7A654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4C64CE-C88F-2044-AD84-19F588F1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948AF20-C2DF-3542-BB6A-8354A981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83942-1443-BC45-9F95-32C82A8D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4039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8239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5563" y="2571750"/>
            <a:ext cx="2738437" cy="2111375"/>
          </a:xfrm>
          <a:solidFill>
            <a:schemeClr val="accent2"/>
          </a:solid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E5EA1C-63CE-2C4F-B9F4-39FDBC14B9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7A5892-F23D-BD48-84D1-FD279BA168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16D46-C7BB-2141-A4EE-18D1756414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0948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7726363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E6F4EB-CC02-6E4D-9146-CE4A7A789A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D4AA2C-29B3-CA42-B7C3-C932911A75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FE7A1E3-AAEC-7641-B6C5-8D9FC0B6A2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1727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3114674"/>
            <a:ext cx="8239125" cy="2028825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7"/>
          </p:nvPr>
        </p:nvSpPr>
        <p:spPr>
          <a:xfrm>
            <a:off x="904875" y="1563688"/>
            <a:ext cx="7646988" cy="1436687"/>
          </a:xfrm>
        </p:spPr>
        <p:txBody>
          <a:bodyPr/>
          <a:lstStyle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fr-CH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7CF3032-2465-874C-B786-95E1B594A5A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AF73E2A-22D7-894A-9267-185CB4E4B1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D9777C-EC90-1141-9E30-4B4F669C2BE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0E011164-727C-4C46-B34E-7729CB35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531156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8101AB-8ACE-BB4C-9D61-B4AABFE1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9CFC1D-0B2A-0A4E-9C0D-682EECA5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622065-A833-2340-B0FD-ACB065A3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48407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4875" y="131032"/>
            <a:ext cx="3667125" cy="107275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4875" y="1563688"/>
            <a:ext cx="7726363" cy="3386772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1221413" y="2778452"/>
            <a:ext cx="3341052" cy="911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115989" y="1874064"/>
            <a:ext cx="3543260" cy="512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Speaker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31238" y="195263"/>
            <a:ext cx="512762" cy="163552"/>
          </a:xfrm>
          <a:prstGeom prst="rect">
            <a:avLst/>
          </a:prstGeom>
        </p:spPr>
        <p:txBody>
          <a:bodyPr vert="horz" lIns="90000" tIns="0" rIns="90000" bIns="0" rtlCol="0" anchor="t"/>
          <a:lstStyle>
            <a:lvl1pPr algn="ctr">
              <a:defRPr sz="700" b="1">
                <a:solidFill>
                  <a:schemeClr val="tx1"/>
                </a:solidFill>
                <a:latin typeface="+mj-lt"/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17E6E68-87EB-C34E-85D5-C26372DFEC99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30273" y="132334"/>
            <a:ext cx="653952" cy="28302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5D7A1C0-94CD-D94F-A99F-21847E542637}"/>
              </a:ext>
            </a:extLst>
          </p:cNvPr>
          <p:cNvSpPr/>
          <p:nvPr userDrawn="1"/>
        </p:nvSpPr>
        <p:spPr>
          <a:xfrm rot="16200000">
            <a:off x="430003" y="4897709"/>
            <a:ext cx="45719" cy="597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48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81" r:id="rId3"/>
    <p:sldLayoutId id="2147483673" r:id="rId4"/>
    <p:sldLayoutId id="2147483662" r:id="rId5"/>
    <p:sldLayoutId id="2147483674" r:id="rId6"/>
    <p:sldLayoutId id="2147483675" r:id="rId7"/>
    <p:sldLayoutId id="2147483682" r:id="rId8"/>
    <p:sldLayoutId id="2147483676" r:id="rId9"/>
    <p:sldLayoutId id="2147483664" r:id="rId10"/>
    <p:sldLayoutId id="2147483666" r:id="rId11"/>
    <p:sldLayoutId id="2147483677" r:id="rId12"/>
    <p:sldLayoutId id="2147483678" r:id="rId13"/>
    <p:sldLayoutId id="2147483679" r:id="rId14"/>
    <p:sldLayoutId id="2147483667" r:id="rId15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i="0" kern="1000" spc="-70" baseline="0">
          <a:solidFill>
            <a:schemeClr val="tx1"/>
          </a:solidFill>
          <a:latin typeface="Franklin Gothic Demi Cond" panose="020B0706030402020204" pitchFamily="34" charset="0"/>
          <a:ea typeface="Roboto Black" panose="02000000000000000000" pitchFamily="2" charset="0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90000"/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90000"/>
        <a:buFont typeface="Wingdings" pitchFamily="2" charset="2"/>
        <a:buChar char="§"/>
        <a:defRPr sz="15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126" userDrawn="1">
          <p15:clr>
            <a:srgbClr val="F26B43"/>
          </p15:clr>
        </p15:guide>
        <p15:guide id="3" pos="5602" userDrawn="1">
          <p15:clr>
            <a:srgbClr val="F26B43"/>
          </p15:clr>
        </p15:guide>
        <p15:guide id="4" pos="2880" userDrawn="1">
          <p15:clr>
            <a:srgbClr val="F26B43"/>
          </p15:clr>
        </p15:guide>
        <p15:guide id="5" orient="horz" pos="123" userDrawn="1">
          <p15:clr>
            <a:srgbClr val="F26B43"/>
          </p15:clr>
        </p15:guide>
        <p15:guide id="6" orient="horz" pos="3117" userDrawn="1">
          <p15:clr>
            <a:srgbClr val="F26B43"/>
          </p15:clr>
        </p15:guide>
        <p15:guide id="7" pos="570" userDrawn="1">
          <p15:clr>
            <a:srgbClr val="F26B43"/>
          </p15:clr>
        </p15:guide>
        <p15:guide id="8" pos="1155" userDrawn="1">
          <p15:clr>
            <a:srgbClr val="F26B43"/>
          </p15:clr>
        </p15:guide>
        <p15:guide id="9" pos="1728" userDrawn="1">
          <p15:clr>
            <a:srgbClr val="F26B43"/>
          </p15:clr>
        </p15:guide>
        <p15:guide id="10" pos="2304" userDrawn="1">
          <p15:clr>
            <a:srgbClr val="F26B43"/>
          </p15:clr>
        </p15:guide>
        <p15:guide id="11" pos="3456" userDrawn="1">
          <p15:clr>
            <a:srgbClr val="F26B43"/>
          </p15:clr>
        </p15:guide>
        <p15:guide id="12" pos="4035" userDrawn="1">
          <p15:clr>
            <a:srgbClr val="F26B43"/>
          </p15:clr>
        </p15:guide>
        <p15:guide id="13" pos="4608" userDrawn="1">
          <p15:clr>
            <a:srgbClr val="F26B43"/>
          </p15:clr>
        </p15:guide>
        <p15:guide id="14" pos="5180" userDrawn="1">
          <p15:clr>
            <a:srgbClr val="F26B43"/>
          </p15:clr>
        </p15:guide>
        <p15:guide id="15" orient="horz" pos="490" userDrawn="1">
          <p15:clr>
            <a:srgbClr val="F26B43"/>
          </p15:clr>
        </p15:guide>
        <p15:guide id="16" orient="horz" pos="985" userDrawn="1">
          <p15:clr>
            <a:srgbClr val="F26B43"/>
          </p15:clr>
        </p15:guide>
        <p15:guide id="17" orient="horz" pos="1475" userDrawn="1">
          <p15:clr>
            <a:srgbClr val="F26B43"/>
          </p15:clr>
        </p15:guide>
        <p15:guide id="18" orient="horz" pos="1962" userDrawn="1">
          <p15:clr>
            <a:srgbClr val="F26B43"/>
          </p15:clr>
        </p15:guide>
        <p15:guide id="19" orient="horz" pos="2458" userDrawn="1">
          <p15:clr>
            <a:srgbClr val="F26B43"/>
          </p15:clr>
        </p15:guide>
        <p15:guide id="20" orient="horz" pos="2950" userDrawn="1">
          <p15:clr>
            <a:srgbClr val="F26B43"/>
          </p15:clr>
        </p15:guide>
        <p15:guide id="21" pos="5437" userDrawn="1">
          <p15:clr>
            <a:srgbClr val="F26B43"/>
          </p15:clr>
        </p15:guide>
        <p15:guide id="22" orient="horz" userDrawn="1">
          <p15:clr>
            <a:srgbClr val="F26B43"/>
          </p15:clr>
        </p15:guide>
        <p15:guide id="23" pos="5760" userDrawn="1">
          <p15:clr>
            <a:srgbClr val="F26B43"/>
          </p15:clr>
        </p15:guide>
        <p15:guide id="24" orient="horz" pos="3240" userDrawn="1">
          <p15:clr>
            <a:srgbClr val="F26B43"/>
          </p15:clr>
        </p15:guide>
        <p15:guide id="25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Human-Model Alignment in Dynamic Object Perception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Aicha Masmoudi</a:t>
            </a:r>
          </a:p>
          <a:p>
            <a:r>
              <a:t>Supervised by [supervisor names]</a:t>
            </a:r>
          </a:p>
          <a:p>
            <a:r>
              <a:t>[Presentation date]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École Polytechnique Fédérale de Lausanne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/>
              <a:t>Context</a:t>
            </a:r>
          </a:p>
          <a:p>
            <a:r>
              <a:rPr sz="1800"/>
              <a:t>Part 1 — Enriching the Dataset</a:t>
            </a:r>
          </a:p>
          <a:p>
            <a:r>
              <a:rPr sz="1800"/>
              <a:t>Part 2 — Optimization &amp; Benchmarking</a:t>
            </a:r>
          </a:p>
          <a:p>
            <a:r>
              <a:rPr sz="1800"/>
              <a:t>Part 3 — What Does the Model Use?</a:t>
            </a:r>
          </a:p>
          <a:p>
            <a:r>
              <a:rPr sz="1800"/>
              <a:t>Conclusion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r>
              <a:rPr sz="1600"/>
              <a:t>The brain continuously updates object representations as a scene evolves</a:t>
            </a:r>
          </a:p>
          <a:p>
            <a:r>
              <a:rPr sz="1600"/>
              <a:t>Computational models let us test hypotheses about this at scale, with falsifiable predictions</a:t>
            </a:r>
          </a:p>
          <a:p>
            <a:r>
              <a:rPr sz="1600"/>
              <a:t>Core question: does a model that sees video over time build a genuinely temporal representation — or does it just recognize objects frame by frame?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Object Perception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 wrap="square">
            <a:normAutofit lnSpcReduction="10000"/>
          </a:bodyPr>
          <a:lstStyle/>
          <a:p>
            <a:r>
              <a:rPr sz="1600"/>
              <a:t>~12,000 short egocentric clips (Ego4D-derived), 0.1–15s</a:t>
            </a:r>
          </a:p>
          <a:p>
            <a:r>
              <a:rPr sz="1600"/>
              <a:t>Humans report which of 12 object categories they perceived:</a:t>
            </a:r>
          </a:p>
          <a:p>
            <a:pPr lvl="1"/>
            <a:r>
              <a:rPr sz="1600"/>
              <a:t>Cup, Knife, Chair, Person, Car, Bike, Dog, Cat, Table, Book, Plant, Bed</a:t>
            </a:r>
          </a:p>
          <a:p>
            <a:r>
              <a:rPr sz="1600"/>
              <a:t>Soft label per category = fraction of raters who reported it, in [0,1]</a:t>
            </a:r>
          </a:p>
          <a:p>
            <a:r>
              <a:rPr sz="1600"/>
              <a:t>Metric: MSE between predicted and human report rates, on held-out clips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&amp;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Model: Frozen Encoder + Trainable Probe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554480" cy="1005840"/>
          </a:xfrm>
          <a:prstGeom prst="roundRect">
            <a:avLst/>
          </a:prstGeom>
          <a:solidFill>
            <a:srgbClr val="413C3A"/>
          </a:solidFill>
          <a:ln>
            <a:solidFill>
              <a:srgbClr val="413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Franklin Gothic Medium"/>
              </a:rPr>
              <a:t>Frozen</a:t>
            </a:r>
            <a:br/>
            <a:r>
              <a:rPr sz="1300" b="1">
                <a:solidFill>
                  <a:srgbClr val="FFFFFF"/>
                </a:solidFill>
                <a:latin typeface="Franklin Gothic Medium"/>
              </a:rPr>
              <a:t>Encoder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03120" y="2148840"/>
            <a:ext cx="457200" cy="365760"/>
          </a:xfrm>
          <a:prstGeom prst="rightArrow">
            <a:avLst/>
          </a:prstGeom>
          <a:solidFill>
            <a:srgbClr val="413C3A"/>
          </a:solidFill>
          <a:ln>
            <a:solidFill>
              <a:srgbClr val="413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51760" y="1828800"/>
            <a:ext cx="1554480" cy="1005840"/>
          </a:xfrm>
          <a:prstGeom prst="roundRect">
            <a:avLst/>
          </a:prstGeom>
          <a:solidFill>
            <a:srgbClr val="00A79F"/>
          </a:solidFill>
          <a:ln>
            <a:solidFill>
              <a:srgbClr val="00A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Franklin Gothic Medium"/>
              </a:rPr>
              <a:t>Attentive</a:t>
            </a:r>
            <a:br/>
            <a:r>
              <a:rPr sz="1300" b="1">
                <a:solidFill>
                  <a:srgbClr val="FFFFFF"/>
                </a:solidFill>
                <a:latin typeface="Franklin Gothic Medium"/>
              </a:rPr>
              <a:t>Pooler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97680" y="2148840"/>
            <a:ext cx="457200" cy="365760"/>
          </a:xfrm>
          <a:prstGeom prst="rightArrow">
            <a:avLst/>
          </a:prstGeom>
          <a:solidFill>
            <a:srgbClr val="413C3A"/>
          </a:solidFill>
          <a:ln>
            <a:solidFill>
              <a:srgbClr val="413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846320" y="1828800"/>
            <a:ext cx="1554480" cy="1005840"/>
          </a:xfrm>
          <a:prstGeom prst="roundRect">
            <a:avLst/>
          </a:prstGeom>
          <a:solidFill>
            <a:srgbClr val="007480"/>
          </a:solidFill>
          <a:ln>
            <a:solidFill>
              <a:srgbClr val="007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Franklin Gothic Medium"/>
              </a:rPr>
              <a:t>Linear</a:t>
            </a:r>
            <a:br/>
            <a:r>
              <a:rPr sz="1300" b="1">
                <a:solidFill>
                  <a:srgbClr val="FFFFFF"/>
                </a:solidFill>
                <a:latin typeface="Franklin Gothic Medium"/>
              </a:rPr>
              <a:t>Classifier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492240" y="2148840"/>
            <a:ext cx="457200" cy="365760"/>
          </a:xfrm>
          <a:prstGeom prst="rightArrow">
            <a:avLst/>
          </a:prstGeom>
          <a:solidFill>
            <a:srgbClr val="413C3A"/>
          </a:solidFill>
          <a:ln>
            <a:solidFill>
              <a:srgbClr val="413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040880" y="1828800"/>
            <a:ext cx="1737360" cy="1005840"/>
          </a:xfrm>
          <a:prstGeom prst="roundRect">
            <a:avLst/>
          </a:prstGeom>
          <a:solidFill>
            <a:srgbClr val="F39869"/>
          </a:solidFill>
          <a:ln>
            <a:solidFill>
              <a:srgbClr val="F39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413C3A"/>
                </a:solidFill>
                <a:latin typeface="Franklin Gothic Medium"/>
              </a:rPr>
              <a:t>12 predicted</a:t>
            </a:r>
            <a:br/>
            <a:r>
              <a:rPr sz="1300" b="1">
                <a:solidFill>
                  <a:srgbClr val="413C3A"/>
                </a:solidFill>
                <a:latin typeface="Franklin Gothic Medium"/>
              </a:rPr>
              <a:t>report 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13C3A"/>
                </a:solidFill>
                <a:latin typeface="Franklin Gothic Medium"/>
              </a:rPr>
              <a:t>(DINOv2 / V-JEPA2 / others)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13C3A"/>
                </a:solidFill>
                <a:latin typeface="Franklin Gothic Medium"/>
              </a:rPr>
              <a:t>Only the pooler + classifier are trained — a probing study: does the frozen representation already contain what's needed?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 dirty="0">
                <a:solidFill>
                  <a:srgbClr val="CBE1DF"/>
                </a:solidFill>
              </a:rPr>
              <a:t>Context</a:t>
            </a:r>
          </a:p>
          <a:p>
            <a:r>
              <a:rPr sz="1800" b="1" dirty="0"/>
              <a:t>Part 1 — Enriching the Dataset</a:t>
            </a:r>
          </a:p>
          <a:p>
            <a:r>
              <a:rPr sz="1800" dirty="0">
                <a:solidFill>
                  <a:srgbClr val="CBE1DF"/>
                </a:solidFill>
              </a:rPr>
              <a:t>Part 2 — Optimization &amp; Benchmarking</a:t>
            </a:r>
          </a:p>
          <a:p>
            <a:r>
              <a:rPr sz="1800" dirty="0">
                <a:solidFill>
                  <a:srgbClr val="CBE1DF"/>
                </a:solidFill>
              </a:rPr>
              <a:t>Part 3 — What Does the Model Use?</a:t>
            </a:r>
          </a:p>
          <a:p>
            <a:r>
              <a:rPr sz="1800" dirty="0">
                <a:solidFill>
                  <a:srgbClr val="CBE1DF"/>
                </a:solidFill>
              </a:rPr>
              <a:t>Conclusion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904874" y="875899"/>
            <a:ext cx="7646988" cy="2134101"/>
          </a:xfrm>
        </p:spPr>
        <p:txBody>
          <a:bodyPr wrap="square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fr-CH" sz="1600" dirty="0"/>
              <a:t>Goal: </a:t>
            </a:r>
            <a:r>
              <a:rPr lang="fr-CH" sz="1600" dirty="0" err="1"/>
              <a:t>improve</a:t>
            </a:r>
            <a:r>
              <a:rPr lang="fr-CH" sz="1600" dirty="0"/>
              <a:t> MSE </a:t>
            </a:r>
            <a:r>
              <a:rPr lang="fr-CH" sz="1600" dirty="0" err="1"/>
              <a:t>between</a:t>
            </a:r>
            <a:r>
              <a:rPr lang="fr-CH" sz="1600" dirty="0"/>
              <a:t> model </a:t>
            </a:r>
            <a:r>
              <a:rPr lang="fr-CH" sz="1600" dirty="0" err="1"/>
              <a:t>predictions</a:t>
            </a:r>
            <a:r>
              <a:rPr lang="fr-CH" sz="1600" dirty="0"/>
              <a:t> &amp; </a:t>
            </a:r>
            <a:r>
              <a:rPr lang="fr-CH" sz="1600" dirty="0" err="1"/>
              <a:t>human</a:t>
            </a:r>
            <a:r>
              <a:rPr lang="fr-CH" sz="1600" dirty="0"/>
              <a:t> reports</a:t>
            </a:r>
          </a:p>
          <a:p>
            <a:pPr>
              <a:lnSpc>
                <a:spcPct val="150000"/>
              </a:lnSpc>
            </a:pPr>
            <a:r>
              <a:rPr lang="fr-CH" sz="1600" dirty="0" err="1"/>
              <a:t>Approach</a:t>
            </a:r>
            <a:r>
              <a:rPr lang="fr-CH" sz="1600" dirty="0"/>
              <a:t>: </a:t>
            </a:r>
            <a:r>
              <a:rPr lang="fr-CH" sz="1600" dirty="0" err="1"/>
              <a:t>Enrich</a:t>
            </a:r>
            <a:r>
              <a:rPr lang="fr-CH" sz="1600" dirty="0"/>
              <a:t> the </a:t>
            </a:r>
            <a:r>
              <a:rPr lang="fr-CH" sz="1600" dirty="0" err="1"/>
              <a:t>dataset</a:t>
            </a:r>
            <a:r>
              <a:rPr lang="fr-CH" sz="1600" dirty="0"/>
              <a:t> by </a:t>
            </a:r>
            <a:r>
              <a:rPr lang="fr-CH" sz="1600" dirty="0" err="1"/>
              <a:t>adding</a:t>
            </a:r>
            <a:r>
              <a:rPr lang="fr-CH" sz="1600" dirty="0"/>
              <a:t> more </a:t>
            </a:r>
            <a:r>
              <a:rPr lang="fr-CH" sz="1600" dirty="0" err="1"/>
              <a:t>dynamic</a:t>
            </a:r>
            <a:r>
              <a:rPr lang="fr-CH" sz="1600" dirty="0"/>
              <a:t> </a:t>
            </a:r>
            <a:r>
              <a:rPr lang="fr-CH" sz="1600" dirty="0" err="1"/>
              <a:t>scenes</a:t>
            </a:r>
            <a:endParaRPr lang="fr-CH" sz="1600" dirty="0"/>
          </a:p>
          <a:p>
            <a:pPr>
              <a:lnSpc>
                <a:spcPct val="150000"/>
              </a:lnSpc>
            </a:pPr>
            <a:r>
              <a:rPr lang="fr-CH" sz="1600" dirty="0" err="1"/>
              <a:t>Expected</a:t>
            </a:r>
            <a:r>
              <a:rPr lang="fr-CH" sz="1600" dirty="0"/>
              <a:t> Output: model </a:t>
            </a:r>
            <a:r>
              <a:rPr lang="fr-CH" sz="1600" dirty="0" err="1"/>
              <a:t>trained</a:t>
            </a:r>
            <a:r>
              <a:rPr lang="fr-CH" sz="1600" dirty="0"/>
              <a:t> on </a:t>
            </a:r>
            <a:r>
              <a:rPr lang="fr-CH" sz="1600" dirty="0" err="1"/>
              <a:t>enriched</a:t>
            </a:r>
            <a:r>
              <a:rPr lang="fr-CH" sz="1600" dirty="0"/>
              <a:t> </a:t>
            </a:r>
            <a:r>
              <a:rPr lang="fr-CH" sz="1600" dirty="0" err="1"/>
              <a:t>dataset</a:t>
            </a:r>
            <a:r>
              <a:rPr lang="fr-CH" sz="1600" dirty="0"/>
              <a:t>.</a:t>
            </a:r>
          </a:p>
          <a:p>
            <a:pPr>
              <a:lnSpc>
                <a:spcPct val="150000"/>
              </a:lnSpc>
            </a:pPr>
            <a:r>
              <a:rPr lang="fr-CH" sz="1600" dirty="0" err="1"/>
              <a:t>Core</a:t>
            </a:r>
            <a:r>
              <a:rPr lang="fr-CH" sz="1600" dirty="0"/>
              <a:t> Question: </a:t>
            </a:r>
            <a:r>
              <a:rPr lang="fr-CH" sz="1600" dirty="0" err="1"/>
              <a:t>will</a:t>
            </a:r>
            <a:r>
              <a:rPr lang="fr-CH" sz="1600" dirty="0"/>
              <a:t> the model </a:t>
            </a:r>
            <a:r>
              <a:rPr lang="fr-CH" sz="1600" dirty="0" err="1"/>
              <a:t>trained</a:t>
            </a:r>
            <a:r>
              <a:rPr lang="fr-CH" sz="1600" dirty="0"/>
              <a:t> on the </a:t>
            </a:r>
            <a:r>
              <a:rPr lang="fr-CH" sz="1600" dirty="0" err="1"/>
              <a:t>enriched</a:t>
            </a:r>
            <a:r>
              <a:rPr lang="fr-CH" sz="1600" dirty="0"/>
              <a:t>, more </a:t>
            </a:r>
            <a:r>
              <a:rPr lang="fr-CH" sz="1600" dirty="0" err="1"/>
              <a:t>dynamic</a:t>
            </a:r>
            <a:r>
              <a:rPr lang="fr-CH" sz="1600" dirty="0"/>
              <a:t> </a:t>
            </a:r>
            <a:r>
              <a:rPr lang="fr-CH" sz="1600" dirty="0" err="1"/>
              <a:t>dataset</a:t>
            </a:r>
            <a:r>
              <a:rPr lang="fr-CH" sz="1600" dirty="0"/>
              <a:t>, </a:t>
            </a:r>
            <a:r>
              <a:rPr lang="fr-CH" sz="1600" dirty="0" err="1"/>
              <a:t>yield</a:t>
            </a:r>
            <a:r>
              <a:rPr lang="fr-CH" sz="1600" dirty="0"/>
              <a:t> </a:t>
            </a:r>
            <a:r>
              <a:rPr lang="fr-CH" sz="1600" dirty="0" err="1"/>
              <a:t>better</a:t>
            </a:r>
            <a:r>
              <a:rPr lang="fr-CH" sz="1600" dirty="0"/>
              <a:t> performance?</a:t>
            </a:r>
            <a:endParaRPr sz="1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04874" y="131032"/>
            <a:ext cx="6737585" cy="610113"/>
          </a:xfrm>
        </p:spPr>
        <p:txBody>
          <a:bodyPr/>
          <a:lstStyle/>
          <a:p>
            <a:r>
              <a:rPr lang="fr-CH" dirty="0" err="1"/>
              <a:t>Improve</a:t>
            </a:r>
            <a:r>
              <a:rPr lang="fr-CH" dirty="0"/>
              <a:t> </a:t>
            </a:r>
            <a:r>
              <a:rPr lang="fr-CH" dirty="0" err="1"/>
              <a:t>human</a:t>
            </a:r>
            <a:r>
              <a:rPr lang="fr-CH" dirty="0"/>
              <a:t>-model </a:t>
            </a:r>
            <a:r>
              <a:rPr lang="fr-CH" dirty="0" err="1"/>
              <a:t>alignment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45F5-7997-0A70-0677-622B1C04B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4197B-B5C9-4BD5-A72B-916D4DF4A0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4874" y="1309035"/>
            <a:ext cx="7646988" cy="2134101"/>
          </a:xfr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endParaRPr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6D6B-63D5-DED0-8EC6-A82ADF827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131032"/>
            <a:ext cx="6795337" cy="1014374"/>
          </a:xfrm>
        </p:spPr>
        <p:txBody>
          <a:bodyPr>
            <a:normAutofit/>
          </a:bodyPr>
          <a:lstStyle/>
          <a:p>
            <a:r>
              <a:rPr lang="fr-CH" dirty="0" err="1"/>
              <a:t>Why</a:t>
            </a:r>
            <a:r>
              <a:rPr lang="fr-CH" dirty="0"/>
              <a:t> </a:t>
            </a:r>
            <a:r>
              <a:rPr lang="fr-CH" dirty="0" err="1"/>
              <a:t>enrich</a:t>
            </a:r>
            <a:r>
              <a:rPr lang="fr-CH" dirty="0"/>
              <a:t> the </a:t>
            </a:r>
            <a:r>
              <a:rPr lang="fr-CH" dirty="0" err="1"/>
              <a:t>dataset</a:t>
            </a:r>
            <a:r>
              <a:rPr lang="fr-CH" dirty="0"/>
              <a:t> </a:t>
            </a:r>
            <a:r>
              <a:rPr lang="fr-CH" dirty="0" err="1"/>
              <a:t>with</a:t>
            </a:r>
            <a:r>
              <a:rPr lang="fr-CH" dirty="0"/>
              <a:t> more </a:t>
            </a:r>
            <a:r>
              <a:rPr lang="fr-CH" dirty="0" err="1"/>
              <a:t>dynamic</a:t>
            </a:r>
            <a:r>
              <a:rPr lang="fr-CH" dirty="0"/>
              <a:t> </a:t>
            </a:r>
            <a:r>
              <a:rPr lang="fr-CH" dirty="0" err="1"/>
              <a:t>videos</a:t>
            </a:r>
            <a:r>
              <a:rPr lang="fr-CH" dirty="0"/>
              <a:t>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2290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127000" y="1104901"/>
            <a:ext cx="8877299" cy="4127500"/>
          </a:xfr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fr-CH" sz="1600" dirty="0"/>
              <a:t>Pipeline:</a:t>
            </a:r>
          </a:p>
          <a:p>
            <a:pPr marL="685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400" b="0" i="0" dirty="0">
                <a:solidFill>
                  <a:srgbClr val="292A2E"/>
                </a:solidFill>
                <a:effectLst/>
                <a:latin typeface="Atlassian Sans"/>
              </a:rPr>
              <a:t>Starting from mp4 videos in Ego4D, we sample a random start time and duration, preprocess the resulting clip, and extract frames every 200 </a:t>
            </a:r>
            <a:r>
              <a:rPr lang="en-GB" sz="1400" b="0" i="0" dirty="0" err="1">
                <a:solidFill>
                  <a:srgbClr val="292A2E"/>
                </a:solidFill>
                <a:effectLst/>
                <a:latin typeface="Atlassian Sans"/>
              </a:rPr>
              <a:t>ms</a:t>
            </a:r>
            <a:r>
              <a:rPr lang="en-GB" sz="1400" b="0" i="0" dirty="0">
                <a:solidFill>
                  <a:srgbClr val="292A2E"/>
                </a:solidFill>
                <a:effectLst/>
                <a:latin typeface="Atlassian Sans"/>
              </a:rPr>
              <a:t> to obtain a fixed set of PNG images per clip.</a:t>
            </a:r>
          </a:p>
          <a:p>
            <a:pPr marL="685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400" dirty="0">
                <a:solidFill>
                  <a:srgbClr val="292A2E"/>
                </a:solidFill>
                <a:latin typeface="Atlassian Sans"/>
              </a:rPr>
              <a:t>We embed these frames and apply DBSCAN clustering on the embeddings, producing a per-clip cluster count that serves as proxy for “dynamicity”</a:t>
            </a:r>
          </a:p>
          <a:p>
            <a:pPr marL="685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400" dirty="0">
                <a:solidFill>
                  <a:srgbClr val="292A2E"/>
                </a:solidFill>
                <a:latin typeface="Atlassian Sans"/>
              </a:rPr>
              <a:t>Select an appropriate cluster-count threshold based on empirical analysis to then filter clips and keep those that meet the minimum threshold. These videos are therefore identified as dynamic</a:t>
            </a:r>
          </a:p>
          <a:p>
            <a:pPr marL="685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400" dirty="0">
                <a:solidFill>
                  <a:srgbClr val="292A2E"/>
                </a:solidFill>
                <a:latin typeface="Atlassian Sans"/>
              </a:rPr>
              <a:t>Produces an enriched dataset with more dynamic clips, for which we collect human object reports &amp; retrain the model to evaluate whether dynamicity-based curation improves human-model alignment</a:t>
            </a:r>
            <a:endParaRPr lang="fr-CH" sz="1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04875" y="131032"/>
            <a:ext cx="6631706" cy="1158753"/>
          </a:xfrm>
        </p:spPr>
        <p:txBody>
          <a:bodyPr>
            <a:normAutofit/>
          </a:bodyPr>
          <a:lstStyle/>
          <a:p>
            <a:r>
              <a:rPr lang="fr-CH" dirty="0"/>
              <a:t>How do </a:t>
            </a:r>
            <a:r>
              <a:rPr lang="fr-CH" dirty="0" err="1"/>
              <a:t>we</a:t>
            </a:r>
            <a:r>
              <a:rPr lang="fr-CH" dirty="0"/>
              <a:t> </a:t>
            </a:r>
            <a:r>
              <a:rPr lang="fr-CH" dirty="0" err="1"/>
              <a:t>identifiy</a:t>
            </a:r>
            <a:r>
              <a:rPr lang="fr-CH" dirty="0"/>
              <a:t> &amp; </a:t>
            </a:r>
            <a:r>
              <a:rPr lang="fr-CH" dirty="0" err="1"/>
              <a:t>produce</a:t>
            </a:r>
            <a:r>
              <a:rPr lang="fr-CH" dirty="0"/>
              <a:t> </a:t>
            </a:r>
            <a:r>
              <a:rPr lang="fr-CH" dirty="0" err="1"/>
              <a:t>dynamic</a:t>
            </a:r>
            <a:r>
              <a:rPr lang="fr-CH" dirty="0"/>
              <a:t> </a:t>
            </a:r>
            <a:r>
              <a:rPr lang="fr-CH" dirty="0" err="1"/>
              <a:t>videos</a:t>
            </a:r>
            <a:r>
              <a:rPr lang="fr-CH" dirty="0"/>
              <a:t>?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BA8C6-CA56-A6C4-050C-E3E9E69FD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56302-B8DD-8665-B42D-6A602F1316D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7000" y="1104901"/>
            <a:ext cx="8877299" cy="4127500"/>
          </a:xfr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endParaRPr lang="fr-CH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83D0EA-61DE-E1FE-FB0F-80589DA62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6631706" cy="1158753"/>
          </a:xfrm>
        </p:spPr>
        <p:txBody>
          <a:bodyPr>
            <a:normAutofit/>
          </a:bodyPr>
          <a:lstStyle/>
          <a:p>
            <a:r>
              <a:rPr lang="fr-CH" dirty="0" err="1"/>
              <a:t>What</a:t>
            </a:r>
            <a:r>
              <a:rPr lang="fr-CH" dirty="0"/>
              <a:t> </a:t>
            </a:r>
            <a:r>
              <a:rPr lang="fr-CH" dirty="0" err="1"/>
              <a:t>is</a:t>
            </a:r>
            <a:r>
              <a:rPr lang="fr-CH" dirty="0"/>
              <a:t> a </a:t>
            </a:r>
            <a:r>
              <a:rPr lang="fr-CH" dirty="0" err="1"/>
              <a:t>dynamic</a:t>
            </a:r>
            <a:r>
              <a:rPr lang="fr-CH" dirty="0"/>
              <a:t> </a:t>
            </a:r>
            <a:r>
              <a:rPr lang="fr-CH" dirty="0" err="1"/>
              <a:t>video</a:t>
            </a:r>
            <a:r>
              <a:rPr lang="fr-CH" dirty="0"/>
              <a:t>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9867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E44EF-D102-70F4-70E3-D402A23DF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C113D-06E0-17DE-9F25-308186A0F1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4874" y="1309035"/>
            <a:ext cx="7646988" cy="2134101"/>
          </a:xfr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fr-CH" sz="1600" dirty="0" err="1"/>
              <a:t>We</a:t>
            </a:r>
            <a:r>
              <a:rPr lang="fr-CH" sz="1600" dirty="0"/>
              <a:t> first </a:t>
            </a:r>
            <a:r>
              <a:rPr lang="fr-CH" sz="1600" dirty="0" err="1"/>
              <a:t>sample</a:t>
            </a:r>
            <a:r>
              <a:rPr lang="fr-CH" sz="1600" dirty="0"/>
              <a:t> a base </a:t>
            </a:r>
            <a:r>
              <a:rPr lang="fr-CH" sz="1600" dirty="0" err="1"/>
              <a:t>video</a:t>
            </a:r>
            <a:r>
              <a:rPr lang="fr-CH" sz="1600" dirty="0"/>
              <a:t> </a:t>
            </a:r>
            <a:r>
              <a:rPr lang="fr-CH" sz="1600" dirty="0" err="1"/>
              <a:t>from</a:t>
            </a:r>
            <a:r>
              <a:rPr lang="fr-CH" sz="1600" dirty="0"/>
              <a:t> Ego4D pool </a:t>
            </a:r>
            <a:r>
              <a:rPr lang="fr-CH" sz="1600" dirty="0" err="1"/>
              <a:t>it</a:t>
            </a:r>
            <a:r>
              <a:rPr lang="fr-CH" sz="1600" dirty="0"/>
              <a:t> </a:t>
            </a:r>
            <a:r>
              <a:rPr lang="fr-CH" sz="1600" dirty="0" err="1"/>
              <a:t>with</a:t>
            </a:r>
            <a:r>
              <a:rPr lang="fr-CH" sz="1600" dirty="0"/>
              <a:t> replacement.</a:t>
            </a:r>
          </a:p>
          <a:p>
            <a:pPr>
              <a:lnSpc>
                <a:spcPct val="150000"/>
              </a:lnSpc>
            </a:pPr>
            <a:r>
              <a:rPr lang="fr-CH" sz="1600" dirty="0"/>
              <a:t>For </a:t>
            </a:r>
            <a:r>
              <a:rPr lang="fr-CH" sz="1600" dirty="0" err="1"/>
              <a:t>each</a:t>
            </a:r>
            <a:r>
              <a:rPr lang="fr-CH" sz="1600" dirty="0"/>
              <a:t> </a:t>
            </a:r>
            <a:r>
              <a:rPr lang="fr-CH" sz="1600" dirty="0" err="1"/>
              <a:t>video</a:t>
            </a:r>
            <a:r>
              <a:rPr lang="fr-CH" sz="1600" dirty="0"/>
              <a:t>, </a:t>
            </a:r>
            <a:r>
              <a:rPr lang="fr-CH" sz="1600" dirty="0" err="1"/>
              <a:t>we</a:t>
            </a:r>
            <a:r>
              <a:rPr lang="fr-CH" sz="1600" dirty="0"/>
              <a:t> run an </a:t>
            </a:r>
            <a:r>
              <a:rPr lang="fr-CH" sz="1600" dirty="0" err="1"/>
              <a:t>inner</a:t>
            </a:r>
            <a:r>
              <a:rPr lang="fr-CH" sz="1600" dirty="0"/>
              <a:t> sampling </a:t>
            </a:r>
            <a:r>
              <a:rPr lang="fr-CH" sz="1600" dirty="0" err="1"/>
              <a:t>loop</a:t>
            </a:r>
            <a:r>
              <a:rPr lang="fr-CH" sz="1600" dirty="0"/>
              <a:t> </a:t>
            </a:r>
            <a:r>
              <a:rPr lang="fr-CH" sz="1600" dirty="0" err="1"/>
              <a:t>that</a:t>
            </a:r>
            <a:r>
              <a:rPr lang="fr-CH" sz="1600" dirty="0"/>
              <a:t> </a:t>
            </a:r>
            <a:r>
              <a:rPr lang="fr-CH" sz="1600" dirty="0" err="1"/>
              <a:t>draws</a:t>
            </a:r>
            <a:r>
              <a:rPr lang="fr-CH" sz="1600" dirty="0"/>
              <a:t> a </a:t>
            </a:r>
            <a:r>
              <a:rPr lang="fr-CH" sz="1600" dirty="0" err="1"/>
              <a:t>random</a:t>
            </a:r>
            <a:r>
              <a:rPr lang="fr-CH" sz="1600" dirty="0"/>
              <a:t> clip </a:t>
            </a:r>
            <a:r>
              <a:rPr lang="fr-CH" sz="1600" dirty="0" err="1"/>
              <a:t>defined</a:t>
            </a:r>
            <a:r>
              <a:rPr lang="fr-CH" sz="1600" dirty="0"/>
              <a:t> by a start time and duration</a:t>
            </a:r>
          </a:p>
          <a:p>
            <a:pPr>
              <a:lnSpc>
                <a:spcPct val="150000"/>
              </a:lnSpc>
            </a:pPr>
            <a:r>
              <a:rPr lang="fr-CH" sz="1600" dirty="0" err="1"/>
              <a:t>After</a:t>
            </a:r>
            <a:r>
              <a:rPr lang="fr-CH" sz="1600" dirty="0"/>
              <a:t> </a:t>
            </a:r>
            <a:r>
              <a:rPr lang="fr-CH" sz="1600" dirty="0" err="1"/>
              <a:t>applying</a:t>
            </a:r>
            <a:r>
              <a:rPr lang="fr-CH" sz="1600" dirty="0"/>
              <a:t> </a:t>
            </a:r>
            <a:r>
              <a:rPr lang="fr-CH" sz="1600" dirty="0" err="1"/>
              <a:t>standardized</a:t>
            </a:r>
            <a:r>
              <a:rPr lang="fr-CH" sz="1600" dirty="0"/>
              <a:t> </a:t>
            </a:r>
            <a:r>
              <a:rPr lang="fr-CH" sz="1600" dirty="0" err="1"/>
              <a:t>pre-processing</a:t>
            </a:r>
            <a:r>
              <a:rPr lang="fr-CH" sz="1600" dirty="0"/>
              <a:t>, </a:t>
            </a:r>
            <a:r>
              <a:rPr lang="fr-CH" sz="1600" dirty="0" err="1"/>
              <a:t>we</a:t>
            </a:r>
            <a:r>
              <a:rPr lang="fr-CH" sz="1600" dirty="0"/>
              <a:t> </a:t>
            </a:r>
            <a:r>
              <a:rPr lang="fr-CH" sz="1600" dirty="0" err="1"/>
              <a:t>sample</a:t>
            </a:r>
            <a:r>
              <a:rPr lang="fr-CH" sz="1600" dirty="0"/>
              <a:t> frames </a:t>
            </a:r>
            <a:r>
              <a:rPr lang="fr-CH" sz="1600" dirty="0" err="1"/>
              <a:t>every</a:t>
            </a:r>
            <a:r>
              <a:rPr lang="fr-CH" sz="1600" dirty="0"/>
              <a:t> 200ms </a:t>
            </a:r>
            <a:r>
              <a:rPr lang="fr-CH" sz="1600" dirty="0" err="1"/>
              <a:t>across</a:t>
            </a:r>
            <a:r>
              <a:rPr lang="fr-CH" sz="1600" dirty="0"/>
              <a:t> the clip duration</a:t>
            </a:r>
            <a:endParaRPr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515024-9F77-438E-6D68-D39A78E88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131032"/>
            <a:ext cx="6795337" cy="1014374"/>
          </a:xfrm>
        </p:spPr>
        <p:txBody>
          <a:bodyPr>
            <a:normAutofit/>
          </a:bodyPr>
          <a:lstStyle/>
          <a:p>
            <a:r>
              <a:rPr lang="fr-CH" dirty="0"/>
              <a:t>Clip Sampling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6619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AA0DA-EB31-E492-147F-9FB220E82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DA3B5-B292-CCD0-E3F3-1302566004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4874" y="1309035"/>
            <a:ext cx="7646988" cy="2134101"/>
          </a:xfr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fr-CH" sz="1600" dirty="0" err="1"/>
              <a:t>We</a:t>
            </a:r>
            <a:r>
              <a:rPr lang="fr-CH" sz="1600" dirty="0"/>
              <a:t> </a:t>
            </a:r>
            <a:r>
              <a:rPr lang="fr-CH" sz="1600" dirty="0" err="1"/>
              <a:t>embed</a:t>
            </a:r>
            <a:r>
              <a:rPr lang="fr-CH" sz="1600" dirty="0"/>
              <a:t> </a:t>
            </a:r>
            <a:r>
              <a:rPr lang="fr-CH" sz="1600" dirty="0" err="1"/>
              <a:t>video</a:t>
            </a:r>
            <a:r>
              <a:rPr lang="fr-CH" sz="1600" dirty="0"/>
              <a:t> frames </a:t>
            </a:r>
            <a:r>
              <a:rPr lang="fr-CH" sz="1600" dirty="0" err="1"/>
              <a:t>using</a:t>
            </a:r>
            <a:r>
              <a:rPr lang="fr-CH" sz="1600" dirty="0"/>
              <a:t> a modern </a:t>
            </a:r>
            <a:r>
              <a:rPr lang="fr-CH" sz="1600" dirty="0" err="1"/>
              <a:t>pretrained</a:t>
            </a:r>
            <a:r>
              <a:rPr lang="fr-CH" sz="1600" dirty="0"/>
              <a:t> vision encoder: DINOv2 </a:t>
            </a:r>
            <a:r>
              <a:rPr lang="fr-CH" sz="1600" dirty="0" err="1"/>
              <a:t>giant</a:t>
            </a:r>
            <a:endParaRPr lang="fr-CH" sz="1600" dirty="0"/>
          </a:p>
          <a:p>
            <a:pPr>
              <a:lnSpc>
                <a:spcPct val="150000"/>
              </a:lnSpc>
            </a:pPr>
            <a:r>
              <a:rPr lang="fr-CH" sz="1600" dirty="0"/>
              <a:t>All frames are </a:t>
            </a:r>
            <a:r>
              <a:rPr lang="fr-CH" sz="1600" dirty="0" err="1"/>
              <a:t>processed</a:t>
            </a:r>
            <a:r>
              <a:rPr lang="fr-CH" sz="1600" dirty="0"/>
              <a:t> </a:t>
            </a:r>
            <a:r>
              <a:rPr lang="fr-CH" sz="1600" dirty="0" err="1"/>
              <a:t>independently</a:t>
            </a:r>
            <a:r>
              <a:rPr lang="fr-CH" sz="1600" dirty="0"/>
              <a:t> and </a:t>
            </a:r>
            <a:r>
              <a:rPr lang="fr-CH" sz="1600" dirty="0" err="1"/>
              <a:t>mapped</a:t>
            </a:r>
            <a:r>
              <a:rPr lang="fr-CH" sz="1600" dirty="0"/>
              <a:t> to </a:t>
            </a:r>
            <a:r>
              <a:rPr lang="fr-CH" sz="1600" dirty="0" err="1"/>
              <a:t>embeddings</a:t>
            </a:r>
            <a:r>
              <a:rPr lang="fr-CH" sz="1600" dirty="0"/>
              <a:t> of </a:t>
            </a:r>
            <a:r>
              <a:rPr lang="fr-CH" sz="1600" dirty="0" err="1"/>
              <a:t>fixed</a:t>
            </a:r>
            <a:r>
              <a:rPr lang="fr-CH" sz="1600" dirty="0"/>
              <a:t> dimension, forming a </a:t>
            </a:r>
            <a:r>
              <a:rPr lang="fr-CH" sz="1600" dirty="0" err="1"/>
              <a:t>sequence</a:t>
            </a:r>
            <a:r>
              <a:rPr lang="fr-CH" sz="1600" dirty="0"/>
              <a:t> of </a:t>
            </a:r>
            <a:r>
              <a:rPr lang="fr-CH" sz="1600" dirty="0" err="1"/>
              <a:t>feature</a:t>
            </a:r>
            <a:r>
              <a:rPr lang="fr-CH" sz="1600" dirty="0"/>
              <a:t> </a:t>
            </a:r>
            <a:r>
              <a:rPr lang="fr-CH" sz="1600" dirty="0" err="1"/>
              <a:t>vectors</a:t>
            </a:r>
            <a:r>
              <a:rPr lang="fr-CH" sz="1600" dirty="0"/>
              <a:t> for </a:t>
            </a:r>
            <a:r>
              <a:rPr lang="fr-CH" sz="1600" dirty="0" err="1"/>
              <a:t>each</a:t>
            </a:r>
            <a:r>
              <a:rPr lang="fr-CH" sz="1600" dirty="0"/>
              <a:t> </a:t>
            </a:r>
            <a:r>
              <a:rPr lang="fr-CH" sz="1600" dirty="0" err="1"/>
              <a:t>video</a:t>
            </a:r>
            <a:r>
              <a:rPr lang="fr-CH" sz="1600" dirty="0"/>
              <a:t>.</a:t>
            </a:r>
            <a:endParaRPr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12FF56-AFF8-CFCD-2BA5-20C7CA9CD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131032"/>
            <a:ext cx="6795337" cy="1014374"/>
          </a:xfrm>
        </p:spPr>
        <p:txBody>
          <a:bodyPr>
            <a:normAutofit/>
          </a:bodyPr>
          <a:lstStyle/>
          <a:p>
            <a:r>
              <a:rPr lang="fr-CH" dirty="0" err="1"/>
              <a:t>Embedding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7834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DA29A-1B44-16BF-E7A5-3D2436F44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AC49A-B8B1-3E05-15BE-2F3AC6B09C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04800" y="889001"/>
            <a:ext cx="8280400" cy="4025900"/>
          </a:xfr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fr-CH" sz="1600" dirty="0" err="1"/>
              <a:t>We</a:t>
            </a:r>
            <a:r>
              <a:rPr lang="fr-CH" sz="1600" dirty="0"/>
              <a:t> use </a:t>
            </a:r>
            <a:r>
              <a:rPr lang="fr-CH" sz="1600" dirty="0" err="1"/>
              <a:t>embeddings</a:t>
            </a:r>
            <a:r>
              <a:rPr lang="fr-CH" sz="1600" dirty="0"/>
              <a:t> as input to DBSCAN, a clustering </a:t>
            </a:r>
            <a:r>
              <a:rPr lang="fr-CH" sz="1600" dirty="0" err="1"/>
              <a:t>algorithm</a:t>
            </a:r>
            <a:r>
              <a:rPr lang="fr-CH" sz="1600" dirty="0"/>
              <a:t>, </a:t>
            </a:r>
            <a:r>
              <a:rPr lang="fr-CH" sz="1600" dirty="0" err="1"/>
              <a:t>which</a:t>
            </a:r>
            <a:r>
              <a:rPr lang="fr-CH" sz="1600" dirty="0"/>
              <a:t> groups frames </a:t>
            </a:r>
            <a:r>
              <a:rPr lang="fr-CH" sz="1600" dirty="0" err="1"/>
              <a:t>based</a:t>
            </a:r>
            <a:r>
              <a:rPr lang="fr-CH" sz="1600" dirty="0"/>
              <a:t> on </a:t>
            </a:r>
            <a:r>
              <a:rPr lang="fr-CH" sz="1600" dirty="0" err="1"/>
              <a:t>semantic</a:t>
            </a:r>
            <a:r>
              <a:rPr lang="fr-CH" sz="1600" dirty="0"/>
              <a:t> </a:t>
            </a:r>
            <a:r>
              <a:rPr lang="fr-CH" sz="1600" dirty="0" err="1"/>
              <a:t>similarity</a:t>
            </a:r>
            <a:r>
              <a:rPr lang="fr-CH" sz="1600" dirty="0"/>
              <a:t>.</a:t>
            </a:r>
          </a:p>
          <a:p>
            <a:pPr>
              <a:lnSpc>
                <a:spcPct val="150000"/>
              </a:lnSpc>
            </a:pPr>
            <a:r>
              <a:rPr lang="fr-CH" sz="1600" dirty="0"/>
              <a:t>It </a:t>
            </a:r>
            <a:r>
              <a:rPr lang="fr-CH" sz="1600" dirty="0" err="1"/>
              <a:t>assigns</a:t>
            </a:r>
            <a:r>
              <a:rPr lang="fr-CH" sz="1600" dirty="0"/>
              <a:t> a </a:t>
            </a:r>
            <a:r>
              <a:rPr lang="fr-CH" sz="1600" dirty="0" err="1"/>
              <a:t>number</a:t>
            </a:r>
            <a:r>
              <a:rPr lang="fr-CH" sz="1600" dirty="0"/>
              <a:t> of clusters to </a:t>
            </a:r>
            <a:r>
              <a:rPr lang="fr-CH" sz="1600" dirty="0" err="1"/>
              <a:t>each</a:t>
            </a:r>
            <a:r>
              <a:rPr lang="fr-CH" sz="1600" dirty="0"/>
              <a:t> </a:t>
            </a:r>
            <a:r>
              <a:rPr lang="fr-CH" sz="1600" dirty="0" err="1"/>
              <a:t>video</a:t>
            </a:r>
            <a:r>
              <a:rPr lang="fr-CH" sz="1600" dirty="0"/>
              <a:t>, </a:t>
            </a:r>
            <a:r>
              <a:rPr lang="fr-CH" sz="1600" dirty="0" err="1"/>
              <a:t>which</a:t>
            </a:r>
            <a:r>
              <a:rPr lang="fr-CH" sz="1600" dirty="0"/>
              <a:t> </a:t>
            </a:r>
            <a:r>
              <a:rPr lang="fr-CH" sz="1600" dirty="0" err="1"/>
              <a:t>represents</a:t>
            </a:r>
            <a:r>
              <a:rPr lang="fr-CH" sz="1600" dirty="0"/>
              <a:t> the </a:t>
            </a:r>
            <a:r>
              <a:rPr lang="fr-CH" sz="1600" dirty="0" err="1"/>
              <a:t>number</a:t>
            </a:r>
            <a:r>
              <a:rPr lang="fr-CH" sz="1600" dirty="0"/>
              <a:t> of distinct groups of frames </a:t>
            </a:r>
            <a:r>
              <a:rPr lang="fr-CH" sz="1600" dirty="0" err="1"/>
              <a:t>that</a:t>
            </a:r>
            <a:r>
              <a:rPr lang="fr-CH" sz="1600" dirty="0"/>
              <a:t> </a:t>
            </a:r>
            <a:r>
              <a:rPr lang="fr-CH" sz="1600" dirty="0" err="1"/>
              <a:t>were</a:t>
            </a:r>
            <a:r>
              <a:rPr lang="fr-CH" sz="1600" dirty="0"/>
              <a:t> </a:t>
            </a:r>
            <a:r>
              <a:rPr lang="fr-CH" sz="1600" dirty="0" err="1"/>
              <a:t>identified</a:t>
            </a:r>
            <a:r>
              <a:rPr lang="fr-CH" sz="1600" dirty="0"/>
              <a:t> as </a:t>
            </a:r>
            <a:r>
              <a:rPr lang="fr-CH" sz="1600" dirty="0" err="1"/>
              <a:t>similar</a:t>
            </a:r>
            <a:r>
              <a:rPr lang="fr-CH" sz="1600" dirty="0"/>
              <a:t>.</a:t>
            </a:r>
          </a:p>
          <a:p>
            <a:pPr>
              <a:lnSpc>
                <a:spcPct val="150000"/>
              </a:lnSpc>
            </a:pPr>
            <a:r>
              <a:rPr lang="fr-CH" sz="1600" dirty="0"/>
              <a:t>The </a:t>
            </a:r>
            <a:r>
              <a:rPr lang="fr-CH" sz="1600" dirty="0" err="1"/>
              <a:t>resulting</a:t>
            </a:r>
            <a:r>
              <a:rPr lang="fr-CH" sz="1600" dirty="0"/>
              <a:t> cluster structure </a:t>
            </a:r>
            <a:r>
              <a:rPr lang="fr-CH" sz="1600" dirty="0" err="1"/>
              <a:t>is</a:t>
            </a:r>
            <a:r>
              <a:rPr lang="fr-CH" sz="1600" dirty="0"/>
              <a:t> </a:t>
            </a:r>
            <a:r>
              <a:rPr lang="fr-CH" sz="1600" dirty="0" err="1"/>
              <a:t>used</a:t>
            </a:r>
            <a:r>
              <a:rPr lang="fr-CH" sz="1600" dirty="0"/>
              <a:t> as the basis for the </a:t>
            </a:r>
            <a:r>
              <a:rPr lang="fr-CH" sz="1600" dirty="0" err="1"/>
              <a:t>dynamicity</a:t>
            </a:r>
            <a:r>
              <a:rPr lang="fr-CH" sz="1600" dirty="0"/>
              <a:t> </a:t>
            </a:r>
            <a:r>
              <a:rPr lang="fr-CH" sz="1600" dirty="0" err="1"/>
              <a:t>metric</a:t>
            </a:r>
            <a:r>
              <a:rPr lang="fr-CH" sz="1600" dirty="0"/>
              <a:t>. In a more </a:t>
            </a:r>
            <a:r>
              <a:rPr lang="fr-CH" sz="1600" dirty="0" err="1"/>
              <a:t>dynamic</a:t>
            </a:r>
            <a:r>
              <a:rPr lang="fr-CH" sz="1600" dirty="0"/>
              <a:t> </a:t>
            </a:r>
            <a:r>
              <a:rPr lang="fr-CH" sz="1600" dirty="0" err="1"/>
              <a:t>video</a:t>
            </a:r>
            <a:r>
              <a:rPr lang="fr-CH" sz="1600" dirty="0"/>
              <a:t>, frame </a:t>
            </a:r>
            <a:r>
              <a:rPr lang="fr-CH" sz="1600" dirty="0" err="1"/>
              <a:t>embeddings</a:t>
            </a:r>
            <a:r>
              <a:rPr lang="fr-CH" sz="1600" dirty="0"/>
              <a:t> </a:t>
            </a:r>
            <a:r>
              <a:rPr lang="fr-CH" sz="1600" dirty="0" err="1"/>
              <a:t>should</a:t>
            </a:r>
            <a:r>
              <a:rPr lang="fr-CH" sz="1600" dirty="0"/>
              <a:t> spread </a:t>
            </a:r>
            <a:r>
              <a:rPr lang="fr-CH" sz="1600" dirty="0" err="1"/>
              <a:t>into</a:t>
            </a:r>
            <a:r>
              <a:rPr lang="fr-CH" sz="1600" dirty="0"/>
              <a:t> more distinct clusters, </a:t>
            </a:r>
            <a:r>
              <a:rPr lang="fr-CH" sz="1600" dirty="0" err="1"/>
              <a:t>whereas</a:t>
            </a:r>
            <a:r>
              <a:rPr lang="fr-CH" sz="1600" dirty="0"/>
              <a:t> in a </a:t>
            </a:r>
            <a:r>
              <a:rPr lang="fr-CH" sz="1600" dirty="0" err="1"/>
              <a:t>less</a:t>
            </a:r>
            <a:r>
              <a:rPr lang="fr-CH" sz="1600" dirty="0"/>
              <a:t> </a:t>
            </a:r>
            <a:r>
              <a:rPr lang="fr-CH" sz="1600" dirty="0" err="1"/>
              <a:t>dynamic</a:t>
            </a:r>
            <a:r>
              <a:rPr lang="fr-CH" sz="1600" dirty="0"/>
              <a:t> </a:t>
            </a:r>
            <a:r>
              <a:rPr lang="fr-CH" sz="1600" dirty="0" err="1"/>
              <a:t>video</a:t>
            </a:r>
            <a:r>
              <a:rPr lang="fr-CH" sz="1600" dirty="0"/>
              <a:t>, frames </a:t>
            </a:r>
            <a:r>
              <a:rPr lang="fr-CH" sz="1600" dirty="0" err="1"/>
              <a:t>should</a:t>
            </a:r>
            <a:r>
              <a:rPr lang="fr-CH" sz="1600" dirty="0"/>
              <a:t> </a:t>
            </a:r>
            <a:r>
              <a:rPr lang="fr-CH" sz="1600" dirty="0" err="1"/>
              <a:t>form</a:t>
            </a:r>
            <a:r>
              <a:rPr lang="fr-CH" sz="1600" dirty="0"/>
              <a:t> </a:t>
            </a:r>
            <a:r>
              <a:rPr lang="fr-CH" sz="1600" dirty="0" err="1"/>
              <a:t>fewer</a:t>
            </a:r>
            <a:r>
              <a:rPr lang="fr-CH" sz="1600" dirty="0"/>
              <a:t> clusters.</a:t>
            </a:r>
          </a:p>
          <a:p>
            <a:pPr>
              <a:lnSpc>
                <a:spcPct val="150000"/>
              </a:lnSpc>
            </a:pPr>
            <a:r>
              <a:rPr lang="fr-CH" sz="1600" b="1" dirty="0"/>
              <a:t>Main </a:t>
            </a:r>
            <a:r>
              <a:rPr lang="fr-CH" sz="1600" b="1" dirty="0" err="1"/>
              <a:t>hypothesis</a:t>
            </a:r>
            <a:r>
              <a:rPr lang="fr-CH" sz="1600" dirty="0"/>
              <a:t>: the </a:t>
            </a:r>
            <a:r>
              <a:rPr lang="fr-CH" sz="1600" dirty="0" err="1"/>
              <a:t>number</a:t>
            </a:r>
            <a:r>
              <a:rPr lang="fr-CH" sz="1600" dirty="0"/>
              <a:t> of DBSCAN clusters can </a:t>
            </a:r>
            <a:r>
              <a:rPr lang="fr-CH" sz="1600" dirty="0" err="1"/>
              <a:t>significantly</a:t>
            </a:r>
            <a:r>
              <a:rPr lang="fr-CH" sz="1600" dirty="0"/>
              <a:t> </a:t>
            </a:r>
            <a:r>
              <a:rPr lang="fr-CH" sz="1600" dirty="0" err="1"/>
              <a:t>separate</a:t>
            </a:r>
            <a:r>
              <a:rPr lang="fr-CH" sz="1600" dirty="0"/>
              <a:t> </a:t>
            </a:r>
            <a:r>
              <a:rPr lang="fr-CH" sz="1600" dirty="0" err="1"/>
              <a:t>highl</a:t>
            </a:r>
            <a:r>
              <a:rPr lang="fr-CH" sz="1600" dirty="0"/>
              <a:t> </a:t>
            </a:r>
            <a:r>
              <a:rPr lang="fr-CH" sz="1600" dirty="0" err="1"/>
              <a:t>dynamic</a:t>
            </a:r>
            <a:r>
              <a:rPr lang="fr-CH" sz="1600" dirty="0"/>
              <a:t> </a:t>
            </a:r>
            <a:r>
              <a:rPr lang="fr-CH" sz="1600" dirty="0" err="1"/>
              <a:t>from</a:t>
            </a:r>
            <a:r>
              <a:rPr lang="fr-CH" sz="1600" dirty="0"/>
              <a:t> </a:t>
            </a:r>
            <a:r>
              <a:rPr lang="fr-CH" sz="1600" dirty="0" err="1"/>
              <a:t>low-dynamic</a:t>
            </a:r>
            <a:r>
              <a:rPr lang="fr-CH" sz="1600" dirty="0"/>
              <a:t> </a:t>
            </a:r>
            <a:r>
              <a:rPr lang="fr-CH" sz="1600" dirty="0" err="1"/>
              <a:t>videos</a:t>
            </a:r>
            <a:r>
              <a:rPr lang="fr-CH" sz="1600" dirty="0"/>
              <a:t>.</a:t>
            </a:r>
            <a:endParaRPr sz="16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5DAD7A-4AB0-7F50-B718-A041E84A5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131032"/>
            <a:ext cx="6795337" cy="1014374"/>
          </a:xfrm>
        </p:spPr>
        <p:txBody>
          <a:bodyPr>
            <a:normAutofit/>
          </a:bodyPr>
          <a:lstStyle/>
          <a:p>
            <a:r>
              <a:rPr lang="fr-CH" dirty="0"/>
              <a:t>DSBCAN: the «</a:t>
            </a:r>
            <a:r>
              <a:rPr lang="fr-CH" dirty="0" err="1"/>
              <a:t>dynamicity</a:t>
            </a:r>
            <a:r>
              <a:rPr lang="fr-CH" dirty="0"/>
              <a:t>» </a:t>
            </a:r>
            <a:r>
              <a:rPr lang="fr-CH" dirty="0" err="1"/>
              <a:t>metric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7258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685800" y="1203785"/>
            <a:ext cx="7937499" cy="2103120"/>
          </a:xfr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fr-CH" sz="1600" dirty="0" err="1"/>
              <a:t>We</a:t>
            </a:r>
            <a:r>
              <a:rPr lang="fr-CH" sz="1600" dirty="0"/>
              <a:t> </a:t>
            </a:r>
            <a:r>
              <a:rPr lang="fr-CH" sz="1600" dirty="0" err="1"/>
              <a:t>assess</a:t>
            </a:r>
            <a:r>
              <a:rPr lang="fr-CH" sz="1600" dirty="0"/>
              <a:t> the </a:t>
            </a:r>
            <a:r>
              <a:rPr lang="fr-CH" sz="1600" dirty="0" err="1"/>
              <a:t>efficiency</a:t>
            </a:r>
            <a:r>
              <a:rPr lang="fr-CH" sz="1600" dirty="0"/>
              <a:t> of </a:t>
            </a:r>
            <a:r>
              <a:rPr lang="fr-CH" sz="1600" dirty="0" err="1"/>
              <a:t>our</a:t>
            </a:r>
            <a:r>
              <a:rPr lang="fr-CH" sz="1600" dirty="0"/>
              <a:t> </a:t>
            </a:r>
            <a:r>
              <a:rPr lang="fr-CH" sz="1600" dirty="0" err="1"/>
              <a:t>method</a:t>
            </a:r>
            <a:r>
              <a:rPr lang="fr-CH" sz="1600" dirty="0"/>
              <a:t> as </a:t>
            </a:r>
            <a:r>
              <a:rPr lang="fr-CH" sz="1600" dirty="0" err="1"/>
              <a:t>follows</a:t>
            </a:r>
            <a:r>
              <a:rPr lang="fr-CH" sz="1600" dirty="0"/>
              <a:t>:</a:t>
            </a:r>
            <a:endParaRPr lang="fr-CH" sz="1400" dirty="0"/>
          </a:p>
          <a:p>
            <a:pPr marL="685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fr-CH" sz="1400" dirty="0" err="1"/>
              <a:t>Manually</a:t>
            </a:r>
            <a:r>
              <a:rPr lang="fr-CH" sz="1400" dirty="0"/>
              <a:t> </a:t>
            </a:r>
            <a:r>
              <a:rPr lang="fr-CH" sz="1400" dirty="0" err="1"/>
              <a:t>curate</a:t>
            </a:r>
            <a:r>
              <a:rPr lang="fr-CH" sz="1400" dirty="0"/>
              <a:t> a </a:t>
            </a:r>
            <a:r>
              <a:rPr lang="fr-CH" sz="1400" dirty="0" err="1"/>
              <a:t>subset</a:t>
            </a:r>
            <a:r>
              <a:rPr lang="fr-CH" sz="1400" dirty="0"/>
              <a:t> of:</a:t>
            </a:r>
          </a:p>
          <a:p>
            <a:pPr marL="1028700" lvl="2" indent="-342900">
              <a:lnSpc>
                <a:spcPct val="150000"/>
              </a:lnSpc>
              <a:buFont typeface="+mj-lt"/>
              <a:buAutoNum type="alphaLcPeriod"/>
            </a:pPr>
            <a:r>
              <a:rPr lang="fr-CH" sz="1300" dirty="0"/>
              <a:t>32 </a:t>
            </a:r>
            <a:r>
              <a:rPr lang="fr-CH" sz="1300" dirty="0" err="1"/>
              <a:t>highly</a:t>
            </a:r>
            <a:r>
              <a:rPr lang="fr-CH" sz="1300" dirty="0"/>
              <a:t> </a:t>
            </a:r>
            <a:r>
              <a:rPr lang="fr-CH" sz="1300" dirty="0" err="1"/>
              <a:t>dynamic</a:t>
            </a:r>
            <a:r>
              <a:rPr lang="fr-CH" sz="1300" dirty="0"/>
              <a:t> benchmark </a:t>
            </a:r>
            <a:r>
              <a:rPr lang="fr-CH" sz="1300" dirty="0" err="1"/>
              <a:t>videos</a:t>
            </a:r>
            <a:r>
              <a:rPr lang="fr-CH" sz="1300" dirty="0"/>
              <a:t>: </a:t>
            </a:r>
            <a:r>
              <a:rPr lang="fr-CH" sz="1300" dirty="0" err="1"/>
              <a:t>these</a:t>
            </a:r>
            <a:r>
              <a:rPr lang="fr-CH" sz="1300" dirty="0"/>
              <a:t> are </a:t>
            </a:r>
            <a:r>
              <a:rPr lang="fr-CH" sz="1300" dirty="0" err="1"/>
              <a:t>videos</a:t>
            </a:r>
            <a:r>
              <a:rPr lang="fr-CH" sz="1300" dirty="0"/>
              <a:t> </a:t>
            </a:r>
            <a:r>
              <a:rPr lang="fr-CH" sz="1300" dirty="0" err="1"/>
              <a:t>that</a:t>
            </a:r>
            <a:r>
              <a:rPr lang="fr-CH" sz="1300" dirty="0"/>
              <a:t> have a lot of abrupt changes, e.g. </a:t>
            </a:r>
            <a:r>
              <a:rPr lang="fr-CH" sz="1300" dirty="0" err="1"/>
              <a:t>objects</a:t>
            </a:r>
            <a:r>
              <a:rPr lang="fr-CH" sz="1300" dirty="0"/>
              <a:t> </a:t>
            </a:r>
            <a:r>
              <a:rPr lang="fr-CH" sz="1300" dirty="0" err="1"/>
              <a:t>appearing</a:t>
            </a:r>
            <a:r>
              <a:rPr lang="fr-CH" sz="1300" dirty="0"/>
              <a:t>, </a:t>
            </a:r>
            <a:r>
              <a:rPr lang="fr-CH" sz="1300" dirty="0" err="1"/>
              <a:t>disappearing</a:t>
            </a:r>
            <a:r>
              <a:rPr lang="fr-CH" sz="1300" dirty="0"/>
              <a:t>, etc. Example: </a:t>
            </a:r>
            <a:r>
              <a:rPr lang="fr-CH" sz="1300" i="1" dirty="0"/>
              <a:t>INCLUDE VIDEO</a:t>
            </a:r>
          </a:p>
          <a:p>
            <a:pPr marL="1028700" lvl="2" indent="-342900">
              <a:lnSpc>
                <a:spcPct val="150000"/>
              </a:lnSpc>
              <a:buFont typeface="+mj-lt"/>
              <a:buAutoNum type="alphaLcPeriod"/>
            </a:pPr>
            <a:r>
              <a:rPr lang="fr-CH" sz="1300" dirty="0"/>
              <a:t>32 </a:t>
            </a:r>
            <a:r>
              <a:rPr lang="fr-CH" sz="1300" dirty="0" err="1"/>
              <a:t>low-dynamic</a:t>
            </a:r>
            <a:r>
              <a:rPr lang="fr-CH" sz="1300" dirty="0"/>
              <a:t> </a:t>
            </a:r>
            <a:r>
              <a:rPr lang="fr-CH" sz="1300" dirty="0" err="1"/>
              <a:t>videos</a:t>
            </a:r>
            <a:r>
              <a:rPr lang="fr-CH" sz="1300" dirty="0"/>
              <a:t>: </a:t>
            </a:r>
            <a:r>
              <a:rPr lang="fr-CH" sz="1300" dirty="0" err="1"/>
              <a:t>videos</a:t>
            </a:r>
            <a:r>
              <a:rPr lang="fr-CH" sz="1300" dirty="0"/>
              <a:t> </a:t>
            </a:r>
            <a:r>
              <a:rPr lang="fr-CH" sz="1300" dirty="0" err="1"/>
              <a:t>that</a:t>
            </a:r>
            <a:r>
              <a:rPr lang="fr-CH" sz="1300" dirty="0"/>
              <a:t> are </a:t>
            </a:r>
            <a:r>
              <a:rPr lang="fr-CH" sz="1300" dirty="0" err="1"/>
              <a:t>almost</a:t>
            </a:r>
            <a:r>
              <a:rPr lang="fr-CH" sz="1300" dirty="0"/>
              <a:t> </a:t>
            </a:r>
            <a:r>
              <a:rPr lang="fr-CH" sz="1300" dirty="0" err="1"/>
              <a:t>static</a:t>
            </a:r>
            <a:r>
              <a:rPr lang="fr-CH" sz="1300" dirty="0"/>
              <a:t>. Example: </a:t>
            </a:r>
            <a:r>
              <a:rPr lang="fr-CH" sz="1300" i="1" dirty="0"/>
              <a:t>INCLUDE VIDEO</a:t>
            </a:r>
            <a:endParaRPr lang="fr-CH" sz="1400" dirty="0"/>
          </a:p>
          <a:p>
            <a:pPr marL="685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fr-CH" sz="1400" dirty="0"/>
              <a:t>Run DBSCAN on the </a:t>
            </a:r>
            <a:r>
              <a:rPr lang="fr-CH" sz="1400" dirty="0" err="1"/>
              <a:t>embedded</a:t>
            </a:r>
            <a:r>
              <a:rPr lang="fr-CH" sz="1400" dirty="0"/>
              <a:t> frames of </a:t>
            </a:r>
            <a:r>
              <a:rPr lang="fr-CH" sz="1400" dirty="0" err="1"/>
              <a:t>these</a:t>
            </a:r>
            <a:r>
              <a:rPr lang="fr-CH" sz="1400" dirty="0"/>
              <a:t> </a:t>
            </a:r>
            <a:r>
              <a:rPr lang="fr-CH" sz="1400" dirty="0" err="1"/>
              <a:t>videos</a:t>
            </a:r>
            <a:r>
              <a:rPr lang="fr-CH" sz="1400" dirty="0"/>
              <a:t> </a:t>
            </a:r>
            <a:r>
              <a:rPr lang="fr-CH" sz="1400" dirty="0" err="1"/>
              <a:t>which</a:t>
            </a:r>
            <a:r>
              <a:rPr lang="fr-CH" sz="1400" dirty="0"/>
              <a:t> </a:t>
            </a:r>
            <a:r>
              <a:rPr lang="fr-CH" sz="1400" dirty="0" err="1"/>
              <a:t>will</a:t>
            </a:r>
            <a:r>
              <a:rPr lang="fr-CH" sz="1400" dirty="0"/>
              <a:t> </a:t>
            </a:r>
            <a:r>
              <a:rPr lang="fr-CH" sz="1400" dirty="0" err="1"/>
              <a:t>assign</a:t>
            </a:r>
            <a:r>
              <a:rPr lang="fr-CH" sz="1400" dirty="0"/>
              <a:t> a </a:t>
            </a:r>
            <a:r>
              <a:rPr lang="fr-CH" sz="1400" dirty="0" err="1"/>
              <a:t>number</a:t>
            </a:r>
            <a:r>
              <a:rPr lang="fr-CH" sz="1400" dirty="0"/>
              <a:t> of clusters for </a:t>
            </a:r>
            <a:r>
              <a:rPr lang="fr-CH" sz="1400" dirty="0" err="1"/>
              <a:t>each</a:t>
            </a:r>
            <a:r>
              <a:rPr lang="fr-CH" sz="1400" dirty="0"/>
              <a:t> </a:t>
            </a:r>
            <a:r>
              <a:rPr lang="fr-CH" sz="1400" dirty="0" err="1"/>
              <a:t>video</a:t>
            </a:r>
            <a:endParaRPr lang="fr-CH" sz="1400" dirty="0"/>
          </a:p>
          <a:p>
            <a:pPr marL="685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fr-CH" sz="1400" dirty="0"/>
              <a:t>Compare the distribution of the </a:t>
            </a:r>
            <a:r>
              <a:rPr lang="fr-CH" sz="1400" dirty="0" err="1"/>
              <a:t>number</a:t>
            </a:r>
            <a:r>
              <a:rPr lang="fr-CH" sz="1400" dirty="0"/>
              <a:t> of clusters per </a:t>
            </a:r>
            <a:r>
              <a:rPr lang="fr-CH" sz="1400" dirty="0" err="1"/>
              <a:t>video</a:t>
            </a:r>
            <a:r>
              <a:rPr lang="fr-CH" sz="1400" dirty="0"/>
              <a:t> </a:t>
            </a:r>
            <a:r>
              <a:rPr lang="fr-CH" sz="1400" dirty="0" err="1"/>
              <a:t>between</a:t>
            </a:r>
            <a:r>
              <a:rPr lang="fr-CH" sz="1400" dirty="0"/>
              <a:t> the </a:t>
            </a:r>
            <a:r>
              <a:rPr lang="fr-CH" sz="1400" dirty="0" err="1"/>
              <a:t>dynamic</a:t>
            </a:r>
            <a:r>
              <a:rPr lang="fr-CH" sz="1400" dirty="0"/>
              <a:t> and non-</a:t>
            </a:r>
            <a:r>
              <a:rPr lang="fr-CH" sz="1400" dirty="0" err="1"/>
              <a:t>dynamic</a:t>
            </a:r>
            <a:r>
              <a:rPr lang="fr-CH" sz="1400" dirty="0"/>
              <a:t> sets</a:t>
            </a:r>
          </a:p>
          <a:p>
            <a:pPr marL="685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fr-CH" sz="1400" dirty="0" err="1"/>
              <a:t>Assess</a:t>
            </a:r>
            <a:r>
              <a:rPr lang="fr-CH" sz="1400" dirty="0"/>
              <a:t> </a:t>
            </a:r>
            <a:r>
              <a:rPr lang="fr-CH" sz="1400" dirty="0" err="1"/>
              <a:t>whether</a:t>
            </a:r>
            <a:r>
              <a:rPr lang="fr-CH" sz="1400" dirty="0"/>
              <a:t> DBSCAN </a:t>
            </a:r>
            <a:r>
              <a:rPr lang="fr-CH" sz="1400" dirty="0" err="1"/>
              <a:t>provides</a:t>
            </a:r>
            <a:r>
              <a:rPr lang="fr-CH" sz="1400" dirty="0"/>
              <a:t> a </a:t>
            </a:r>
            <a:r>
              <a:rPr lang="fr-CH" sz="1400" dirty="0" err="1"/>
              <a:t>meaningful</a:t>
            </a:r>
            <a:r>
              <a:rPr lang="fr-CH" sz="1400" dirty="0"/>
              <a:t> and </a:t>
            </a:r>
            <a:r>
              <a:rPr lang="fr-CH" sz="1400" dirty="0" err="1"/>
              <a:t>robust</a:t>
            </a:r>
            <a:r>
              <a:rPr lang="fr-CH" sz="1400" dirty="0"/>
              <a:t> </a:t>
            </a:r>
            <a:r>
              <a:rPr lang="fr-CH" sz="1400" dirty="0" err="1"/>
              <a:t>separation</a:t>
            </a:r>
            <a:r>
              <a:rPr lang="fr-CH" sz="1400" dirty="0"/>
              <a:t> </a:t>
            </a:r>
            <a:r>
              <a:rPr lang="fr-CH" sz="1400" dirty="0" err="1"/>
              <a:t>between</a:t>
            </a:r>
            <a:r>
              <a:rPr lang="fr-CH" sz="1400" dirty="0"/>
              <a:t> the </a:t>
            </a:r>
            <a:r>
              <a:rPr lang="fr-CH" sz="1400" dirty="0" err="1"/>
              <a:t>two</a:t>
            </a:r>
            <a:r>
              <a:rPr lang="fr-CH" sz="1400" dirty="0"/>
              <a:t> groups</a:t>
            </a:r>
          </a:p>
          <a:p>
            <a:pPr marL="685800" lvl="1" indent="-342900">
              <a:lnSpc>
                <a:spcPct val="150000"/>
              </a:lnSpc>
              <a:buFont typeface="+mj-lt"/>
              <a:buAutoNum type="arabicPeriod"/>
            </a:pPr>
            <a:endParaRPr lang="fr-CH" sz="1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Validating the Dynamicity 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429000"/>
            <a:ext cx="8046720" cy="150876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413C3A"/>
                </a:solidFill>
                <a:latin typeface="Franklin Gothic Medium"/>
              </a:rPr>
              <a:t>[ PLOT: Boxplot/violin/histogram — DBSCAN cluster count, 32 dynamic vs. 32 low-dynamic videos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DE8F5-EE85-CC5F-E7A9-C2C4C8229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9AB46-9DAB-0F9B-2D7B-B7DD106A20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5800" y="1203785"/>
            <a:ext cx="7937499" cy="1828800"/>
          </a:xfrm>
        </p:spPr>
        <p:txBody>
          <a:bodyPr wrap="square">
            <a:normAutofit/>
          </a:bodyPr>
          <a:lstStyle/>
          <a:p>
            <a:pPr marL="685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fr-CH" dirty="0"/>
              <a:t>If </a:t>
            </a:r>
            <a:r>
              <a:rPr lang="fr-CH" dirty="0" err="1"/>
              <a:t>we</a:t>
            </a:r>
            <a:r>
              <a:rPr lang="fr-CH" dirty="0"/>
              <a:t> </a:t>
            </a:r>
            <a:r>
              <a:rPr lang="fr-CH" dirty="0" err="1"/>
              <a:t>take</a:t>
            </a:r>
            <a:r>
              <a:rPr lang="fr-CH" dirty="0"/>
              <a:t> the </a:t>
            </a:r>
            <a:r>
              <a:rPr lang="fr-CH" dirty="0" err="1"/>
              <a:t>same</a:t>
            </a:r>
            <a:r>
              <a:rPr lang="fr-CH" dirty="0"/>
              <a:t> </a:t>
            </a:r>
            <a:r>
              <a:rPr lang="fr-CH" dirty="0" err="1"/>
              <a:t>video</a:t>
            </a:r>
            <a:r>
              <a:rPr lang="fr-CH" dirty="0"/>
              <a:t>, and </a:t>
            </a:r>
            <a:r>
              <a:rPr lang="fr-CH" dirty="0" err="1"/>
              <a:t>truncate</a:t>
            </a:r>
            <a:r>
              <a:rPr lang="fr-CH" dirty="0"/>
              <a:t> </a:t>
            </a:r>
            <a:r>
              <a:rPr lang="fr-CH" dirty="0" err="1"/>
              <a:t>it</a:t>
            </a:r>
            <a:r>
              <a:rPr lang="fr-CH" dirty="0"/>
              <a:t> multiple times, </a:t>
            </a:r>
            <a:r>
              <a:rPr lang="fr-CH" dirty="0" err="1"/>
              <a:t>does</a:t>
            </a:r>
            <a:r>
              <a:rPr lang="fr-CH" dirty="0"/>
              <a:t> the </a:t>
            </a:r>
            <a:r>
              <a:rPr lang="fr-CH" dirty="0" err="1"/>
              <a:t>number</a:t>
            </a:r>
            <a:r>
              <a:rPr lang="fr-CH" dirty="0"/>
              <a:t> of clusters </a:t>
            </a:r>
            <a:r>
              <a:rPr lang="fr-CH" dirty="0" err="1"/>
              <a:t>assigned</a:t>
            </a:r>
            <a:r>
              <a:rPr lang="fr-CH" dirty="0"/>
              <a:t> to </a:t>
            </a:r>
            <a:r>
              <a:rPr lang="fr-CH" dirty="0" err="1"/>
              <a:t>each</a:t>
            </a:r>
            <a:r>
              <a:rPr lang="fr-CH" dirty="0"/>
              <a:t> </a:t>
            </a:r>
            <a:r>
              <a:rPr lang="fr-CH" dirty="0" err="1"/>
              <a:t>sub</a:t>
            </a:r>
            <a:r>
              <a:rPr lang="fr-CH" dirty="0"/>
              <a:t>-clip </a:t>
            </a:r>
            <a:r>
              <a:rPr lang="fr-CH" dirty="0" err="1"/>
              <a:t>always</a:t>
            </a:r>
            <a:r>
              <a:rPr lang="fr-CH" dirty="0"/>
              <a:t> </a:t>
            </a:r>
            <a:r>
              <a:rPr lang="fr-CH" dirty="0" err="1"/>
              <a:t>increase</a:t>
            </a:r>
            <a:r>
              <a:rPr lang="fr-CH" dirty="0"/>
              <a:t>?</a:t>
            </a:r>
          </a:p>
          <a:p>
            <a:pPr marL="1028700" lvl="2" indent="-342900">
              <a:lnSpc>
                <a:spcPct val="150000"/>
              </a:lnSpc>
              <a:buFont typeface="+mj-lt"/>
              <a:buAutoNum type="alphaLcPeriod"/>
            </a:pPr>
            <a:r>
              <a:rPr lang="fr-CH" dirty="0"/>
              <a:t>3 </a:t>
            </a:r>
            <a:r>
              <a:rPr lang="fr-CH" dirty="0" err="1"/>
              <a:t>random</a:t>
            </a:r>
            <a:r>
              <a:rPr lang="fr-CH" dirty="0"/>
              <a:t> </a:t>
            </a:r>
            <a:r>
              <a:rPr lang="fr-CH" dirty="0" err="1"/>
              <a:t>videos</a:t>
            </a:r>
            <a:r>
              <a:rPr lang="fr-CH" dirty="0"/>
              <a:t>: 9s, 8s and 14s</a:t>
            </a:r>
          </a:p>
          <a:p>
            <a:pPr marL="1028700" lvl="2" indent="-342900">
              <a:lnSpc>
                <a:spcPct val="150000"/>
              </a:lnSpc>
              <a:buFont typeface="+mj-lt"/>
              <a:buAutoNum type="alphaLcPeriod"/>
            </a:pPr>
            <a:r>
              <a:rPr lang="fr-CH" dirty="0" err="1"/>
              <a:t>We</a:t>
            </a:r>
            <a:r>
              <a:rPr lang="fr-CH" dirty="0"/>
              <a:t> </a:t>
            </a:r>
            <a:r>
              <a:rPr lang="fr-CH" dirty="0" err="1"/>
              <a:t>subsample</a:t>
            </a:r>
            <a:r>
              <a:rPr lang="fr-CH" dirty="0"/>
              <a:t> </a:t>
            </a:r>
            <a:r>
              <a:rPr lang="fr-CH" dirty="0" err="1"/>
              <a:t>each</a:t>
            </a:r>
            <a:r>
              <a:rPr lang="fr-CH" dirty="0"/>
              <a:t> </a:t>
            </a:r>
            <a:r>
              <a:rPr lang="fr-CH" dirty="0" err="1"/>
              <a:t>video</a:t>
            </a:r>
            <a:r>
              <a:rPr lang="fr-CH" dirty="0"/>
              <a:t> by </a:t>
            </a:r>
            <a:r>
              <a:rPr lang="fr-CH" dirty="0" err="1"/>
              <a:t>sliding</a:t>
            </a:r>
            <a:r>
              <a:rPr lang="fr-CH" dirty="0"/>
              <a:t> </a:t>
            </a:r>
            <a:r>
              <a:rPr lang="fr-CH" dirty="0" err="1"/>
              <a:t>from</a:t>
            </a:r>
            <a:r>
              <a:rPr lang="fr-CH" dirty="0"/>
              <a:t> the </a:t>
            </a:r>
            <a:r>
              <a:rPr lang="fr-CH" dirty="0" err="1"/>
              <a:t>beginning</a:t>
            </a:r>
            <a:r>
              <a:rPr lang="fr-CH" dirty="0"/>
              <a:t> </a:t>
            </a:r>
            <a:r>
              <a:rPr lang="fr-CH" dirty="0" err="1"/>
              <a:t>until</a:t>
            </a:r>
            <a:r>
              <a:rPr lang="fr-CH" dirty="0"/>
              <a:t> the end of the </a:t>
            </a:r>
            <a:r>
              <a:rPr lang="fr-CH" dirty="0" err="1"/>
              <a:t>video</a:t>
            </a:r>
            <a:r>
              <a:rPr lang="fr-CH" dirty="0"/>
              <a:t>, </a:t>
            </a:r>
            <a:r>
              <a:rPr lang="fr-CH" dirty="0" err="1"/>
              <a:t>truncating</a:t>
            </a:r>
            <a:r>
              <a:rPr lang="fr-CH" dirty="0"/>
              <a:t> the </a:t>
            </a:r>
            <a:r>
              <a:rPr lang="fr-CH" dirty="0" err="1"/>
              <a:t>video</a:t>
            </a:r>
            <a:r>
              <a:rPr lang="fr-CH" dirty="0"/>
              <a:t> </a:t>
            </a:r>
            <a:r>
              <a:rPr lang="fr-CH" dirty="0" err="1"/>
              <a:t>every</a:t>
            </a:r>
            <a:r>
              <a:rPr lang="fr-CH" dirty="0"/>
              <a:t> 1s</a:t>
            </a:r>
          </a:p>
          <a:p>
            <a:pPr marL="1028700" lvl="2" indent="-342900">
              <a:lnSpc>
                <a:spcPct val="150000"/>
              </a:lnSpc>
              <a:buFont typeface="+mj-lt"/>
              <a:buAutoNum type="alphaLcPeriod"/>
            </a:pPr>
            <a:r>
              <a:rPr lang="fr-CH" dirty="0"/>
              <a:t>Plot the </a:t>
            </a:r>
            <a:r>
              <a:rPr lang="fr-CH" dirty="0" err="1"/>
              <a:t>number</a:t>
            </a:r>
            <a:r>
              <a:rPr lang="fr-CH" dirty="0"/>
              <a:t> of clusters</a:t>
            </a:r>
          </a:p>
          <a:p>
            <a:pPr marL="342900" lvl="1" indent="0">
              <a:lnSpc>
                <a:spcPct val="150000"/>
              </a:lnSpc>
              <a:buNone/>
            </a:pPr>
            <a:r>
              <a:rPr lang="fr-CH" i="1" dirty="0"/>
              <a:t>INCLUDE PLOT FOR EACH VIDEO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D51349-296C-9CFD-6EF6-C8F29902A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Sanity</a:t>
            </a:r>
            <a:r>
              <a:rPr lang="fr-CH" dirty="0"/>
              <a:t> Checks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560320" cy="164592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413C3A"/>
                </a:solidFill>
                <a:latin typeface="Franklin Gothic Medium"/>
              </a:rPr>
              <a:t>[ PLOT: Video 1</a:t>
            </a:r>
            <a:br/>
            <a:r>
              <a:rPr sz="1200" i="1">
                <a:solidFill>
                  <a:srgbClr val="413C3A"/>
                </a:solidFill>
                <a:latin typeface="Franklin Gothic Medium"/>
              </a:rPr>
              <a:t>(9s) — clusters vs.</a:t>
            </a:r>
            <a:br/>
            <a:r>
              <a:rPr sz="1200" i="1">
                <a:solidFill>
                  <a:srgbClr val="413C3A"/>
                </a:solidFill>
                <a:latin typeface="Franklin Gothic Medium"/>
              </a:rPr>
              <a:t>truncation duration ]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3200400"/>
            <a:ext cx="2560320" cy="164592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413C3A"/>
                </a:solidFill>
                <a:latin typeface="Franklin Gothic Medium"/>
              </a:rPr>
              <a:t>[ PLOT: Video 2</a:t>
            </a:r>
            <a:br/>
            <a:r>
              <a:rPr sz="1200" i="1">
                <a:solidFill>
                  <a:srgbClr val="413C3A"/>
                </a:solidFill>
                <a:latin typeface="Franklin Gothic Medium"/>
              </a:rPr>
              <a:t>(8s) — clusters vs.</a:t>
            </a:r>
            <a:br/>
            <a:r>
              <a:rPr sz="1200" i="1">
                <a:solidFill>
                  <a:srgbClr val="413C3A"/>
                </a:solidFill>
                <a:latin typeface="Franklin Gothic Medium"/>
              </a:rPr>
              <a:t>truncation duration ]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3200400"/>
            <a:ext cx="2560320" cy="164592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413C3A"/>
                </a:solidFill>
                <a:latin typeface="Franklin Gothic Medium"/>
              </a:rPr>
              <a:t>[ PLOT: Video 3</a:t>
            </a:r>
            <a:br/>
            <a:r>
              <a:rPr sz="1200" i="1">
                <a:solidFill>
                  <a:srgbClr val="413C3A"/>
                </a:solidFill>
                <a:latin typeface="Franklin Gothic Medium"/>
              </a:rPr>
              <a:t>(14s) — clusters vs.</a:t>
            </a:r>
            <a:br/>
            <a:r>
              <a:rPr sz="1200" i="1">
                <a:solidFill>
                  <a:srgbClr val="413C3A"/>
                </a:solidFill>
                <a:latin typeface="Franklin Gothic Medium"/>
              </a:rPr>
              <a:t>truncation duration ]</a:t>
            </a:r>
          </a:p>
        </p:txBody>
      </p:sp>
    </p:spTree>
    <p:extLst>
      <p:ext uri="{BB962C8B-B14F-4D97-AF65-F5344CB8AC3E}">
        <p14:creationId xmlns:p14="http://schemas.microsoft.com/office/powerpoint/2010/main" val="248130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F756D-CBBE-1D51-CEFB-9562606BB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89D49-FA66-90B5-12C8-1ACC27181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5800" y="1203785"/>
            <a:ext cx="7937499" cy="4181015"/>
          </a:xfrm>
        </p:spPr>
        <p:txBody>
          <a:bodyPr wrap="square">
            <a:normAutofit/>
          </a:bodyPr>
          <a:lstStyle/>
          <a:p>
            <a:pPr marL="685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fr-CH" dirty="0"/>
              <a:t>The DBSCAN </a:t>
            </a:r>
            <a:r>
              <a:rPr lang="fr-CH" dirty="0" err="1"/>
              <a:t>algorithm</a:t>
            </a:r>
            <a:r>
              <a:rPr lang="fr-CH" dirty="0"/>
              <a:t> relies on 2 </a:t>
            </a:r>
            <a:r>
              <a:rPr lang="fr-CH" dirty="0" err="1"/>
              <a:t>parameters</a:t>
            </a:r>
            <a:r>
              <a:rPr lang="fr-CH" dirty="0"/>
              <a:t>:</a:t>
            </a:r>
          </a:p>
          <a:p>
            <a:pPr marL="1028700" lvl="2" indent="-342900">
              <a:lnSpc>
                <a:spcPct val="150000"/>
              </a:lnSpc>
              <a:buFont typeface="+mj-lt"/>
              <a:buAutoNum type="alphaLcPeriod"/>
            </a:pPr>
            <a:r>
              <a:rPr lang="fr-CH" i="1" dirty="0"/>
              <a:t>Epsilon: </a:t>
            </a:r>
            <a:r>
              <a:rPr lang="fr-CH" dirty="0" err="1"/>
              <a:t>two</a:t>
            </a:r>
            <a:r>
              <a:rPr lang="fr-CH" dirty="0"/>
              <a:t> frame </a:t>
            </a:r>
            <a:r>
              <a:rPr lang="fr-CH" dirty="0" err="1"/>
              <a:t>embeddings</a:t>
            </a:r>
            <a:r>
              <a:rPr lang="fr-CH" dirty="0"/>
              <a:t> are </a:t>
            </a:r>
            <a:r>
              <a:rPr lang="fr-CH" dirty="0" err="1"/>
              <a:t>assigned</a:t>
            </a:r>
            <a:r>
              <a:rPr lang="fr-CH" dirty="0"/>
              <a:t> to the </a:t>
            </a:r>
            <a:r>
              <a:rPr lang="fr-CH" dirty="0" err="1"/>
              <a:t>same</a:t>
            </a:r>
            <a:r>
              <a:rPr lang="fr-CH" dirty="0"/>
              <a:t> cluster if </a:t>
            </a:r>
            <a:r>
              <a:rPr lang="fr-CH" dirty="0" err="1"/>
              <a:t>they</a:t>
            </a:r>
            <a:r>
              <a:rPr lang="fr-CH" dirty="0"/>
              <a:t> are </a:t>
            </a:r>
            <a:r>
              <a:rPr lang="fr-CH" dirty="0" err="1"/>
              <a:t>within</a:t>
            </a:r>
            <a:r>
              <a:rPr lang="fr-CH" dirty="0"/>
              <a:t> </a:t>
            </a:r>
            <a:r>
              <a:rPr lang="fr-CH" i="1" dirty="0"/>
              <a:t>epsilon </a:t>
            </a:r>
            <a:r>
              <a:rPr lang="fr-CH" dirty="0"/>
              <a:t>of </a:t>
            </a:r>
            <a:r>
              <a:rPr lang="fr-CH" dirty="0" err="1"/>
              <a:t>each</a:t>
            </a:r>
            <a:r>
              <a:rPr lang="fr-CH" dirty="0"/>
              <a:t> </a:t>
            </a:r>
            <a:r>
              <a:rPr lang="fr-CH" dirty="0" err="1"/>
              <a:t>other</a:t>
            </a:r>
            <a:r>
              <a:rPr lang="fr-CH" dirty="0"/>
              <a:t>. </a:t>
            </a:r>
          </a:p>
          <a:p>
            <a:pPr marL="1371600" lvl="3" indent="-342900">
              <a:lnSpc>
                <a:spcPct val="150000"/>
              </a:lnSpc>
              <a:buFont typeface="+mj-lt"/>
              <a:buAutoNum type="alphaLcPeriod"/>
            </a:pPr>
            <a:r>
              <a:rPr lang="fr-CH" dirty="0">
                <a:sym typeface="Wingdings" pitchFamily="2" charset="2"/>
              </a:rPr>
              <a:t> </a:t>
            </a:r>
            <a:r>
              <a:rPr lang="fr-CH" dirty="0" err="1">
                <a:sym typeface="Wingdings" pitchFamily="2" charset="2"/>
              </a:rPr>
              <a:t>larger</a:t>
            </a:r>
            <a:r>
              <a:rPr lang="fr-CH" dirty="0">
                <a:sym typeface="Wingdings" pitchFamily="2" charset="2"/>
              </a:rPr>
              <a:t> epsilon  more </a:t>
            </a:r>
            <a:r>
              <a:rPr lang="fr-CH" dirty="0" err="1">
                <a:sym typeface="Wingdings" pitchFamily="2" charset="2"/>
              </a:rPr>
              <a:t>tolerance</a:t>
            </a:r>
            <a:r>
              <a:rPr lang="fr-CH" dirty="0">
                <a:sym typeface="Wingdings" pitchFamily="2" charset="2"/>
              </a:rPr>
              <a:t>  </a:t>
            </a:r>
            <a:r>
              <a:rPr lang="fr-CH" dirty="0" err="1">
                <a:sym typeface="Wingdings" pitchFamily="2" charset="2"/>
              </a:rPr>
              <a:t>less</a:t>
            </a:r>
            <a:r>
              <a:rPr lang="fr-CH" dirty="0">
                <a:sym typeface="Wingdings" pitchFamily="2" charset="2"/>
              </a:rPr>
              <a:t> clusters</a:t>
            </a:r>
          </a:p>
          <a:p>
            <a:pPr marL="1371600" lvl="3" indent="-342900">
              <a:lnSpc>
                <a:spcPct val="150000"/>
              </a:lnSpc>
              <a:buFont typeface="+mj-lt"/>
              <a:buAutoNum type="alphaLcPeriod"/>
            </a:pPr>
            <a:r>
              <a:rPr lang="fr-CH" dirty="0">
                <a:sym typeface="Wingdings" pitchFamily="2" charset="2"/>
              </a:rPr>
              <a:t> </a:t>
            </a:r>
            <a:r>
              <a:rPr lang="fr-CH" dirty="0" err="1">
                <a:sym typeface="Wingdings" pitchFamily="2" charset="2"/>
              </a:rPr>
              <a:t>smaller</a:t>
            </a:r>
            <a:r>
              <a:rPr lang="fr-CH" dirty="0">
                <a:sym typeface="Wingdings" pitchFamily="2" charset="2"/>
              </a:rPr>
              <a:t> epsilon   harder to </a:t>
            </a:r>
            <a:r>
              <a:rPr lang="fr-CH" dirty="0" err="1">
                <a:sym typeface="Wingdings" pitchFamily="2" charset="2"/>
              </a:rPr>
              <a:t>connect</a:t>
            </a:r>
            <a:r>
              <a:rPr lang="fr-CH" dirty="0">
                <a:sym typeface="Wingdings" pitchFamily="2" charset="2"/>
              </a:rPr>
              <a:t> points  more clusters and more </a:t>
            </a:r>
            <a:r>
              <a:rPr lang="fr-CH" dirty="0" err="1">
                <a:sym typeface="Wingdings" pitchFamily="2" charset="2"/>
              </a:rPr>
              <a:t>nosie</a:t>
            </a:r>
            <a:endParaRPr lang="fr-CH" dirty="0">
              <a:sym typeface="Wingdings" pitchFamily="2" charset="2"/>
            </a:endParaRPr>
          </a:p>
          <a:p>
            <a:pPr marL="1028700" lvl="2" indent="-342900">
              <a:lnSpc>
                <a:spcPct val="150000"/>
              </a:lnSpc>
              <a:buFont typeface="+mj-lt"/>
              <a:buAutoNum type="alphaLcPeriod"/>
            </a:pPr>
            <a:r>
              <a:rPr lang="fr-CH" i="1" dirty="0">
                <a:sym typeface="Wingdings" pitchFamily="2" charset="2"/>
              </a:rPr>
              <a:t>Minimum </a:t>
            </a:r>
            <a:r>
              <a:rPr lang="fr-CH" i="1" dirty="0" err="1">
                <a:sym typeface="Wingdings" pitchFamily="2" charset="2"/>
              </a:rPr>
              <a:t>number</a:t>
            </a:r>
            <a:r>
              <a:rPr lang="fr-CH" i="1" dirty="0">
                <a:sym typeface="Wingdings" pitchFamily="2" charset="2"/>
              </a:rPr>
              <a:t> of </a:t>
            </a:r>
            <a:r>
              <a:rPr lang="fr-CH" i="1" dirty="0" err="1">
                <a:sym typeface="Wingdings" pitchFamily="2" charset="2"/>
              </a:rPr>
              <a:t>samples</a:t>
            </a:r>
            <a:r>
              <a:rPr lang="fr-CH" dirty="0">
                <a:sym typeface="Wingdings" pitchFamily="2" charset="2"/>
              </a:rPr>
              <a:t>: sets the minimum </a:t>
            </a:r>
            <a:r>
              <a:rPr lang="fr-CH" dirty="0" err="1">
                <a:sym typeface="Wingdings" pitchFamily="2" charset="2"/>
              </a:rPr>
              <a:t>number</a:t>
            </a:r>
            <a:r>
              <a:rPr lang="fr-CH" dirty="0">
                <a:sym typeface="Wingdings" pitchFamily="2" charset="2"/>
              </a:rPr>
              <a:t> of </a:t>
            </a:r>
            <a:r>
              <a:rPr lang="fr-CH" dirty="0" err="1">
                <a:sym typeface="Wingdings" pitchFamily="2" charset="2"/>
              </a:rPr>
              <a:t>nearby</a:t>
            </a:r>
            <a:r>
              <a:rPr lang="fr-CH" dirty="0">
                <a:sym typeface="Wingdings" pitchFamily="2" charset="2"/>
              </a:rPr>
              <a:t> points </a:t>
            </a:r>
            <a:r>
              <a:rPr lang="fr-CH" dirty="0" err="1">
                <a:sym typeface="Wingdings" pitchFamily="2" charset="2"/>
              </a:rPr>
              <a:t>needed</a:t>
            </a:r>
            <a:r>
              <a:rPr lang="fr-CH" dirty="0">
                <a:sym typeface="Wingdings" pitchFamily="2" charset="2"/>
              </a:rPr>
              <a:t> to </a:t>
            </a:r>
            <a:r>
              <a:rPr lang="fr-CH" dirty="0" err="1">
                <a:sym typeface="Wingdings" pitchFamily="2" charset="2"/>
              </a:rPr>
              <a:t>form</a:t>
            </a:r>
            <a:r>
              <a:rPr lang="fr-CH" dirty="0">
                <a:sym typeface="Wingdings" pitchFamily="2" charset="2"/>
              </a:rPr>
              <a:t> a cluster.</a:t>
            </a:r>
          </a:p>
          <a:p>
            <a:pPr marL="1371600" lvl="3" indent="-342900">
              <a:lnSpc>
                <a:spcPct val="150000"/>
              </a:lnSpc>
              <a:buFont typeface="+mj-lt"/>
              <a:buAutoNum type="alphaLcPeriod"/>
            </a:pPr>
            <a:r>
              <a:rPr lang="fr-CH" dirty="0">
                <a:sym typeface="Wingdings" pitchFamily="2" charset="2"/>
              </a:rPr>
              <a:t> </a:t>
            </a:r>
            <a:r>
              <a:rPr lang="fr-CH" dirty="0" err="1">
                <a:sym typeface="Wingdings" pitchFamily="2" charset="2"/>
              </a:rPr>
              <a:t>smaller</a:t>
            </a:r>
            <a:r>
              <a:rPr lang="fr-CH" dirty="0">
                <a:sym typeface="Wingdings" pitchFamily="2" charset="2"/>
              </a:rPr>
              <a:t> value  </a:t>
            </a:r>
            <a:r>
              <a:rPr lang="fr-CH" dirty="0" err="1">
                <a:sym typeface="Wingdings" pitchFamily="2" charset="2"/>
              </a:rPr>
              <a:t>easier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it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ise</a:t>
            </a:r>
            <a:r>
              <a:rPr lang="fr-CH" dirty="0">
                <a:sym typeface="Wingdings" pitchFamily="2" charset="2"/>
              </a:rPr>
              <a:t> to </a:t>
            </a:r>
            <a:r>
              <a:rPr lang="fr-CH" dirty="0" err="1">
                <a:sym typeface="Wingdings" pitchFamily="2" charset="2"/>
              </a:rPr>
              <a:t>form</a:t>
            </a:r>
            <a:r>
              <a:rPr lang="fr-CH" dirty="0">
                <a:sym typeface="Wingdings" pitchFamily="2" charset="2"/>
              </a:rPr>
              <a:t> clusters</a:t>
            </a:r>
          </a:p>
          <a:p>
            <a:pPr marL="1028700" lvl="2" indent="-342900">
              <a:lnSpc>
                <a:spcPct val="150000"/>
              </a:lnSpc>
              <a:buFont typeface="+mj-lt"/>
              <a:buAutoNum type="alphaLcPeriod"/>
            </a:pPr>
            <a:r>
              <a:rPr lang="fr-CH" dirty="0" err="1">
                <a:sym typeface="Wingdings" pitchFamily="2" charset="2"/>
              </a:rPr>
              <a:t>We</a:t>
            </a:r>
            <a:r>
              <a:rPr lang="fr-CH" dirty="0">
                <a:sym typeface="Wingdings" pitchFamily="2" charset="2"/>
              </a:rPr>
              <a:t> run DBSCAN on </a:t>
            </a:r>
            <a:r>
              <a:rPr lang="fr-CH" dirty="0" err="1">
                <a:sym typeface="Wingdings" pitchFamily="2" charset="2"/>
              </a:rPr>
              <a:t>both</a:t>
            </a:r>
            <a:r>
              <a:rPr lang="fr-CH" dirty="0">
                <a:sym typeface="Wingdings" pitchFamily="2" charset="2"/>
              </a:rPr>
              <a:t> sets </a:t>
            </a:r>
            <a:r>
              <a:rPr lang="fr-CH" dirty="0" err="1">
                <a:sym typeface="Wingdings" pitchFamily="2" charset="2"/>
              </a:rPr>
              <a:t>with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different</a:t>
            </a:r>
            <a:r>
              <a:rPr lang="fr-CH" dirty="0">
                <a:sym typeface="Wingdings" pitchFamily="2" charset="2"/>
              </a:rPr>
              <a:t> pairs of values and plot ROC-AUC </a:t>
            </a:r>
            <a:r>
              <a:rPr lang="fr-CH" dirty="0" err="1">
                <a:sym typeface="Wingdings" pitchFamily="2" charset="2"/>
              </a:rPr>
              <a:t>with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effect</a:t>
            </a:r>
            <a:r>
              <a:rPr lang="fr-CH" dirty="0">
                <a:sym typeface="Wingdings" pitchFamily="2" charset="2"/>
              </a:rPr>
              <a:t> size &amp; p-value for </a:t>
            </a:r>
            <a:r>
              <a:rPr lang="fr-CH" dirty="0" err="1">
                <a:sym typeface="Wingdings" pitchFamily="2" charset="2"/>
              </a:rPr>
              <a:t>each</a:t>
            </a:r>
            <a:r>
              <a:rPr lang="fr-CH" dirty="0">
                <a:sym typeface="Wingdings" pitchFamily="2" charset="2"/>
              </a:rPr>
              <a:t> DBSCAN </a:t>
            </a:r>
            <a:r>
              <a:rPr lang="fr-CH" dirty="0" err="1">
                <a:sym typeface="Wingdings" pitchFamily="2" charset="2"/>
              </a:rPr>
              <a:t>parameter</a:t>
            </a:r>
            <a:r>
              <a:rPr lang="fr-CH" dirty="0">
                <a:sym typeface="Wingdings" pitchFamily="2" charset="2"/>
              </a:rPr>
              <a:t> pair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8BD83F-0CBF-976F-26C4-EC20746E7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5699125" cy="1072753"/>
          </a:xfrm>
        </p:spPr>
        <p:txBody>
          <a:bodyPr/>
          <a:lstStyle/>
          <a:p>
            <a:r>
              <a:rPr lang="fr-CH" dirty="0" err="1"/>
              <a:t>Hyperparameter</a:t>
            </a:r>
            <a:r>
              <a:rPr lang="fr-CH" dirty="0"/>
              <a:t> </a:t>
            </a:r>
            <a:r>
              <a:rPr lang="fr-CH" dirty="0" err="1"/>
              <a:t>Optimization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371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3C9C-95AB-0833-7ECF-8F9F81A8A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D54A8-4B8C-74C2-E62E-E230A23741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5800" y="1203785"/>
            <a:ext cx="7937499" cy="1828800"/>
          </a:xfrm>
        </p:spPr>
        <p:txBody>
          <a:bodyPr wrap="square">
            <a:normAutofit/>
          </a:bodyPr>
          <a:lstStyle/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fr-CH" dirty="0"/>
              <a:t>ROC-AUC </a:t>
            </a:r>
            <a:r>
              <a:rPr lang="fr-CH" dirty="0" err="1"/>
              <a:t>curve</a:t>
            </a:r>
            <a:r>
              <a:rPr lang="fr-CH" dirty="0"/>
              <a:t> + </a:t>
            </a:r>
            <a:r>
              <a:rPr lang="fr-CH" dirty="0" err="1"/>
              <a:t>Violin</a:t>
            </a:r>
            <a:r>
              <a:rPr lang="fr-CH" dirty="0"/>
              <a:t> Plot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fr-CH" dirty="0" err="1">
                <a:sym typeface="Wingdings" pitchFamily="2" charset="2"/>
              </a:rPr>
              <a:t>Results</a:t>
            </a:r>
            <a:r>
              <a:rPr lang="fr-CH" dirty="0">
                <a:sym typeface="Wingdings" pitchFamily="2" charset="2"/>
              </a:rPr>
              <a:t>: </a:t>
            </a:r>
            <a:r>
              <a:rPr lang="fr-CH" i="1" dirty="0">
                <a:sym typeface="Wingdings" pitchFamily="2" charset="2"/>
              </a:rPr>
              <a:t>(</a:t>
            </a:r>
            <a:r>
              <a:rPr lang="fr-CH" i="1" dirty="0" err="1">
                <a:sym typeface="Wingdings" pitchFamily="2" charset="2"/>
              </a:rPr>
              <a:t>eps</a:t>
            </a:r>
            <a:r>
              <a:rPr lang="fr-CH" i="1" dirty="0">
                <a:sym typeface="Wingdings" pitchFamily="2" charset="2"/>
              </a:rPr>
              <a:t>, </a:t>
            </a:r>
            <a:r>
              <a:rPr lang="fr-CH" i="1" dirty="0" err="1">
                <a:sym typeface="Wingdings" pitchFamily="2" charset="2"/>
              </a:rPr>
              <a:t>min_samples</a:t>
            </a:r>
            <a:r>
              <a:rPr lang="fr-CH" i="1" dirty="0">
                <a:sym typeface="Wingdings" pitchFamily="2" charset="2"/>
              </a:rPr>
              <a:t>) = (25, 2) </a:t>
            </a:r>
            <a:r>
              <a:rPr lang="fr-CH" dirty="0" err="1">
                <a:sym typeface="Wingdings" pitchFamily="2" charset="2"/>
              </a:rPr>
              <a:t>yiels</a:t>
            </a:r>
            <a:r>
              <a:rPr lang="fr-CH" dirty="0">
                <a:sym typeface="Wingdings" pitchFamily="2" charset="2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fr-CH" dirty="0" err="1">
                <a:sym typeface="Wingdings" pitchFamily="2" charset="2"/>
              </a:rPr>
              <a:t>Highest</a:t>
            </a:r>
            <a:r>
              <a:rPr lang="fr-CH" dirty="0">
                <a:sym typeface="Wingdings" pitchFamily="2" charset="2"/>
              </a:rPr>
              <a:t> ROC-AUC ~0.95</a:t>
            </a:r>
          </a:p>
          <a:p>
            <a:pPr lvl="2">
              <a:lnSpc>
                <a:spcPct val="150000"/>
              </a:lnSpc>
            </a:pPr>
            <a:r>
              <a:rPr lang="fr-CH" dirty="0" err="1">
                <a:sym typeface="Wingdings" pitchFamily="2" charset="2"/>
              </a:rPr>
              <a:t>Significant</a:t>
            </a:r>
            <a:r>
              <a:rPr lang="fr-CH" dirty="0">
                <a:sym typeface="Wingdings" pitchFamily="2" charset="2"/>
              </a:rPr>
              <a:t> p-value &lt;&lt; 0.05</a:t>
            </a:r>
          </a:p>
          <a:p>
            <a:pPr lvl="2">
              <a:lnSpc>
                <a:spcPct val="150000"/>
              </a:lnSpc>
            </a:pPr>
            <a:r>
              <a:rPr lang="fr-CH" dirty="0">
                <a:sym typeface="Wingdings" pitchFamily="2" charset="2"/>
              </a:rPr>
              <a:t>Large </a:t>
            </a:r>
            <a:r>
              <a:rPr lang="fr-CH" dirty="0" err="1">
                <a:sym typeface="Wingdings" pitchFamily="2" charset="2"/>
              </a:rPr>
              <a:t>Cohen’s</a:t>
            </a:r>
            <a:r>
              <a:rPr lang="fr-CH" dirty="0">
                <a:sym typeface="Wingdings" pitchFamily="2" charset="2"/>
              </a:rPr>
              <a:t> d ~ 2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fr-CH" dirty="0">
                <a:sym typeface="Wingdings" pitchFamily="2" charset="2"/>
              </a:rPr>
              <a:t>Conclusion: </a:t>
            </a:r>
            <a:r>
              <a:rPr lang="fr-CH" dirty="0" err="1">
                <a:sym typeface="Wingdings" pitchFamily="2" charset="2"/>
              </a:rPr>
              <a:t>this</a:t>
            </a:r>
            <a:r>
              <a:rPr lang="fr-CH" dirty="0">
                <a:sym typeface="Wingdings" pitchFamily="2" charset="2"/>
              </a:rPr>
              <a:t> pair of </a:t>
            </a:r>
            <a:r>
              <a:rPr lang="fr-CH" dirty="0" err="1">
                <a:sym typeface="Wingdings" pitchFamily="2" charset="2"/>
              </a:rPr>
              <a:t>parameters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provides</a:t>
            </a:r>
            <a:r>
              <a:rPr lang="fr-CH" dirty="0">
                <a:sym typeface="Wingdings" pitchFamily="2" charset="2"/>
              </a:rPr>
              <a:t> the </a:t>
            </a:r>
            <a:r>
              <a:rPr lang="fr-CH" dirty="0" err="1">
                <a:sym typeface="Wingdings" pitchFamily="2" charset="2"/>
              </a:rPr>
              <a:t>strongest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separation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between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dynamic</a:t>
            </a:r>
            <a:r>
              <a:rPr lang="fr-CH" dirty="0">
                <a:sym typeface="Wingdings" pitchFamily="2" charset="2"/>
              </a:rPr>
              <a:t> and non-</a:t>
            </a:r>
            <a:r>
              <a:rPr lang="fr-CH" dirty="0" err="1">
                <a:sym typeface="Wingdings" pitchFamily="2" charset="2"/>
              </a:rPr>
              <a:t>dynamic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videos</a:t>
            </a:r>
            <a:endParaRPr lang="fr-CH" dirty="0">
              <a:sym typeface="Wingdings" pitchFamily="2" charset="2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B09898-E625-83BA-7C36-9669CAAB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6207125" cy="1072753"/>
          </a:xfrm>
        </p:spPr>
        <p:txBody>
          <a:bodyPr/>
          <a:lstStyle/>
          <a:p>
            <a:r>
              <a:rPr lang="fr-CH" dirty="0" err="1"/>
              <a:t>Hyperparameter</a:t>
            </a:r>
            <a:r>
              <a:rPr lang="fr-CH" dirty="0"/>
              <a:t> </a:t>
            </a:r>
            <a:r>
              <a:rPr lang="fr-CH" dirty="0" err="1"/>
              <a:t>Optimization</a:t>
            </a:r>
            <a:r>
              <a:rPr lang="fr-CH" dirty="0"/>
              <a:t>: </a:t>
            </a:r>
            <a:r>
              <a:rPr lang="fr-CH" dirty="0" err="1"/>
              <a:t>Results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3931920" cy="164592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413C3A"/>
                </a:solidFill>
                <a:latin typeface="Franklin Gothic Medium"/>
              </a:rPr>
              <a:t>[ PLOT: ROC-AUC curve</a:t>
            </a:r>
            <a:br/>
            <a:r>
              <a:rPr sz="1200" i="1">
                <a:solidFill>
                  <a:srgbClr val="413C3A"/>
                </a:solidFill>
                <a:latin typeface="Franklin Gothic Medium"/>
              </a:rPr>
              <a:t>(eps, min_samples) = (25, 2) ]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3200400"/>
            <a:ext cx="3931920" cy="164592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413C3A"/>
                </a:solidFill>
                <a:latin typeface="Franklin Gothic Medium"/>
              </a:rPr>
              <a:t>[ PLOT: Violin plot</a:t>
            </a:r>
            <a:br/>
            <a:r>
              <a:rPr sz="1200" i="1">
                <a:solidFill>
                  <a:srgbClr val="413C3A"/>
                </a:solidFill>
                <a:latin typeface="Franklin Gothic Medium"/>
              </a:rPr>
              <a:t>cluster count, dynamic vs. random ]</a:t>
            </a:r>
          </a:p>
        </p:txBody>
      </p:sp>
    </p:spTree>
    <p:extLst>
      <p:ext uri="{BB962C8B-B14F-4D97-AF65-F5344CB8AC3E}">
        <p14:creationId xmlns:p14="http://schemas.microsoft.com/office/powerpoint/2010/main" val="3483010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0F64-E6C4-FE0F-0906-1CB7EBD37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3980C-D816-D5E4-CC97-5A91939D88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5800" y="1203785"/>
            <a:ext cx="7937499" cy="1645920"/>
          </a:xfrm>
        </p:spPr>
        <p:txBody>
          <a:bodyPr wrap="square">
            <a:normAutofit/>
          </a:bodyPr>
          <a:lstStyle/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fr-CH" dirty="0"/>
              <a:t>To </a:t>
            </a:r>
            <a:r>
              <a:rPr lang="fr-CH" dirty="0" err="1"/>
              <a:t>validate</a:t>
            </a:r>
            <a:r>
              <a:rPr lang="fr-CH" dirty="0"/>
              <a:t> </a:t>
            </a:r>
            <a:r>
              <a:rPr lang="fr-CH" dirty="0" err="1"/>
              <a:t>this</a:t>
            </a:r>
            <a:r>
              <a:rPr lang="fr-CH" dirty="0"/>
              <a:t> </a:t>
            </a:r>
            <a:r>
              <a:rPr lang="fr-CH" dirty="0" err="1"/>
              <a:t>method</a:t>
            </a:r>
            <a:r>
              <a:rPr lang="fr-CH" dirty="0"/>
              <a:t> to </a:t>
            </a:r>
            <a:r>
              <a:rPr lang="fr-CH" dirty="0" err="1"/>
              <a:t>assess</a:t>
            </a:r>
            <a:r>
              <a:rPr lang="fr-CH" dirty="0"/>
              <a:t> «</a:t>
            </a:r>
            <a:r>
              <a:rPr lang="fr-CH" dirty="0" err="1"/>
              <a:t>dynamicity</a:t>
            </a:r>
            <a:r>
              <a:rPr lang="fr-CH" dirty="0"/>
              <a:t>» of </a:t>
            </a:r>
            <a:r>
              <a:rPr lang="fr-CH" dirty="0" err="1"/>
              <a:t>videos</a:t>
            </a:r>
            <a:r>
              <a:rPr lang="fr-CH" dirty="0"/>
              <a:t>, </a:t>
            </a:r>
            <a:r>
              <a:rPr lang="fr-CH" dirty="0" err="1"/>
              <a:t>we</a:t>
            </a:r>
            <a:r>
              <a:rPr lang="fr-CH" dirty="0"/>
              <a:t> run DBSCAN </a:t>
            </a:r>
            <a:r>
              <a:rPr lang="fr-CH" dirty="0" err="1"/>
              <a:t>with</a:t>
            </a:r>
            <a:r>
              <a:rPr lang="fr-CH" dirty="0"/>
              <a:t> optimal </a:t>
            </a:r>
            <a:r>
              <a:rPr lang="fr-CH" dirty="0" err="1"/>
              <a:t>hyperparameters</a:t>
            </a:r>
            <a:r>
              <a:rPr lang="fr-CH" dirty="0"/>
              <a:t> on a </a:t>
            </a:r>
            <a:r>
              <a:rPr lang="fr-CH" dirty="0" err="1"/>
              <a:t>held</a:t>
            </a:r>
            <a:r>
              <a:rPr lang="fr-CH" dirty="0"/>
              <a:t>-out set of </a:t>
            </a:r>
            <a:r>
              <a:rPr lang="fr-CH" dirty="0" err="1"/>
              <a:t>dynamic</a:t>
            </a:r>
            <a:r>
              <a:rPr lang="fr-CH" dirty="0"/>
              <a:t> </a:t>
            </a:r>
            <a:r>
              <a:rPr lang="fr-CH" dirty="0" err="1"/>
              <a:t>videos</a:t>
            </a:r>
            <a:r>
              <a:rPr lang="fr-CH" dirty="0"/>
              <a:t> (39) and plot the distributions </a:t>
            </a:r>
            <a:r>
              <a:rPr lang="fr-CH" dirty="0" err="1"/>
              <a:t>between</a:t>
            </a:r>
            <a:r>
              <a:rPr lang="fr-CH" dirty="0"/>
              <a:t> the </a:t>
            </a:r>
            <a:r>
              <a:rPr lang="fr-CH" dirty="0" err="1"/>
              <a:t>held</a:t>
            </a:r>
            <a:r>
              <a:rPr lang="fr-CH" dirty="0"/>
              <a:t>-out set &amp; </a:t>
            </a:r>
            <a:r>
              <a:rPr lang="fr-CH" dirty="0" err="1"/>
              <a:t>low-dynamic</a:t>
            </a:r>
            <a:r>
              <a:rPr lang="fr-CH" dirty="0"/>
              <a:t> </a:t>
            </a:r>
            <a:r>
              <a:rPr lang="fr-CH" dirty="0" err="1"/>
              <a:t>videos</a:t>
            </a:r>
            <a:endParaRPr lang="fr-CH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fr-CH" dirty="0">
                <a:sym typeface="Wingdings" pitchFamily="2" charset="2"/>
              </a:rPr>
              <a:t>Violon Plot + </a:t>
            </a:r>
            <a:r>
              <a:rPr lang="fr-CH" dirty="0" err="1">
                <a:sym typeface="Wingdings" pitchFamily="2" charset="2"/>
              </a:rPr>
              <a:t>Histogram</a:t>
            </a:r>
            <a:r>
              <a:rPr lang="fr-CH" dirty="0">
                <a:sym typeface="Wingdings" pitchFamily="2" charset="2"/>
              </a:rPr>
              <a:t> + ROC </a:t>
            </a:r>
            <a:r>
              <a:rPr lang="fr-CH" dirty="0" err="1">
                <a:sym typeface="Wingdings" pitchFamily="2" charset="2"/>
              </a:rPr>
              <a:t>Curve</a:t>
            </a:r>
            <a:endParaRPr lang="fr-CH" dirty="0">
              <a:sym typeface="Wingdings" pitchFamily="2" charset="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fr-CH" dirty="0" err="1">
                <a:sym typeface="Wingdings" pitchFamily="2" charset="2"/>
              </a:rPr>
              <a:t>Results</a:t>
            </a:r>
            <a:r>
              <a:rPr lang="fr-CH" dirty="0">
                <a:sym typeface="Wingdings" pitchFamily="2" charset="2"/>
              </a:rPr>
              <a:t>: Clear </a:t>
            </a:r>
            <a:r>
              <a:rPr lang="fr-CH" dirty="0" err="1">
                <a:sym typeface="Wingdings" pitchFamily="2" charset="2"/>
              </a:rPr>
              <a:t>separation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between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dynamic</a:t>
            </a:r>
            <a:r>
              <a:rPr lang="fr-CH" dirty="0">
                <a:sym typeface="Wingdings" pitchFamily="2" charset="2"/>
              </a:rPr>
              <a:t> and non-</a:t>
            </a:r>
            <a:r>
              <a:rPr lang="fr-CH" dirty="0" err="1">
                <a:sym typeface="Wingdings" pitchFamily="2" charset="2"/>
              </a:rPr>
              <a:t>dynamic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videos</a:t>
            </a:r>
            <a:r>
              <a:rPr lang="fr-CH" dirty="0">
                <a:sym typeface="Wingdings" pitchFamily="2" charset="2"/>
              </a:rPr>
              <a:t>, </a:t>
            </a:r>
            <a:r>
              <a:rPr lang="fr-CH" dirty="0" err="1">
                <a:sym typeface="Wingdings" pitchFamily="2" charset="2"/>
              </a:rPr>
              <a:t>with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consistenly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higher</a:t>
            </a:r>
            <a:r>
              <a:rPr lang="fr-CH" dirty="0">
                <a:sym typeface="Wingdings" pitchFamily="2" charset="2"/>
              </a:rPr>
              <a:t> cluster </a:t>
            </a:r>
            <a:r>
              <a:rPr lang="fr-CH" dirty="0" err="1">
                <a:sym typeface="Wingdings" pitchFamily="2" charset="2"/>
              </a:rPr>
              <a:t>counts</a:t>
            </a:r>
            <a:r>
              <a:rPr lang="fr-CH" dirty="0">
                <a:sym typeface="Wingdings" pitchFamily="2" charset="2"/>
              </a:rPr>
              <a:t> for </a:t>
            </a:r>
            <a:r>
              <a:rPr lang="fr-CH" dirty="0" err="1">
                <a:sym typeface="Wingdings" pitchFamily="2" charset="2"/>
              </a:rPr>
              <a:t>dynamic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samples</a:t>
            </a:r>
            <a:r>
              <a:rPr lang="fr-CH" dirty="0">
                <a:sym typeface="Wingdings" pitchFamily="2" charset="2"/>
              </a:rPr>
              <a:t> and high ROC-AUC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fr-CH" dirty="0">
                <a:sym typeface="Wingdings" pitchFamily="2" charset="2"/>
              </a:rPr>
              <a:t>Conclusion: the </a:t>
            </a:r>
            <a:r>
              <a:rPr lang="fr-CH" dirty="0" err="1">
                <a:sym typeface="Wingdings" pitchFamily="2" charset="2"/>
              </a:rPr>
              <a:t>method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is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generalizable</a:t>
            </a:r>
            <a:r>
              <a:rPr lang="fr-CH" dirty="0">
                <a:sym typeface="Wingdings" pitchFamily="2" charset="2"/>
              </a:rPr>
              <a:t> and </a:t>
            </a:r>
            <a:r>
              <a:rPr lang="fr-CH" dirty="0" err="1">
                <a:sym typeface="Wingdings" pitchFamily="2" charset="2"/>
              </a:rPr>
              <a:t>we</a:t>
            </a:r>
            <a:r>
              <a:rPr lang="fr-CH" dirty="0">
                <a:sym typeface="Wingdings" pitchFamily="2" charset="2"/>
              </a:rPr>
              <a:t> can use </a:t>
            </a:r>
            <a:r>
              <a:rPr lang="fr-CH" dirty="0" err="1">
                <a:sym typeface="Wingdings" pitchFamily="2" charset="2"/>
              </a:rPr>
              <a:t>it</a:t>
            </a:r>
            <a:r>
              <a:rPr lang="fr-CH" dirty="0">
                <a:sym typeface="Wingdings" pitchFamily="2" charset="2"/>
              </a:rPr>
              <a:t> as the «</a:t>
            </a:r>
            <a:r>
              <a:rPr lang="fr-CH" dirty="0" err="1">
                <a:sym typeface="Wingdings" pitchFamily="2" charset="2"/>
              </a:rPr>
              <a:t>dynamicity</a:t>
            </a:r>
            <a:r>
              <a:rPr lang="fr-CH" dirty="0">
                <a:sym typeface="Wingdings" pitchFamily="2" charset="2"/>
              </a:rPr>
              <a:t>» </a:t>
            </a:r>
            <a:r>
              <a:rPr lang="fr-CH" dirty="0" err="1">
                <a:sym typeface="Wingdings" pitchFamily="2" charset="2"/>
              </a:rPr>
              <a:t>metric</a:t>
            </a:r>
            <a:endParaRPr lang="fr-CH" dirty="0">
              <a:sym typeface="Wingdings" pitchFamily="2" charset="2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854F01-DDBB-1B65-B2AA-A1879BD55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6207125" cy="1072753"/>
          </a:xfrm>
        </p:spPr>
        <p:txBody>
          <a:bodyPr/>
          <a:lstStyle/>
          <a:p>
            <a:r>
              <a:rPr lang="fr-CH" dirty="0"/>
              <a:t>Method Validation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8046720" cy="182880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413C3A"/>
                </a:solidFill>
                <a:latin typeface="Franklin Gothic Medium"/>
              </a:rPr>
              <a:t>[ PLOT: Violin/histogram/ROC — held-out 39 dynamic videos vs. 32 low-dynamic videos, optimal hyperparameters ]</a:t>
            </a:r>
          </a:p>
        </p:txBody>
      </p:sp>
    </p:spTree>
    <p:extLst>
      <p:ext uri="{BB962C8B-B14F-4D97-AF65-F5344CB8AC3E}">
        <p14:creationId xmlns:p14="http://schemas.microsoft.com/office/powerpoint/2010/main" val="2030502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E7294-04C2-771D-3C8D-C8C928EBC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425E1-C5E6-A3EB-4FE9-8026479D1C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5800" y="1203785"/>
            <a:ext cx="7937499" cy="4181015"/>
          </a:xfrm>
        </p:spPr>
        <p:txBody>
          <a:bodyPr wrap="square">
            <a:normAutofit/>
          </a:bodyPr>
          <a:lstStyle/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fr-CH" dirty="0">
                <a:sym typeface="Wingdings" pitchFamily="2" charset="2"/>
              </a:rPr>
              <a:t>Aim: </a:t>
            </a:r>
            <a:r>
              <a:rPr lang="fr-CH" dirty="0" err="1">
                <a:sym typeface="Wingdings" pitchFamily="2" charset="2"/>
              </a:rPr>
              <a:t>define</a:t>
            </a:r>
            <a:r>
              <a:rPr lang="fr-CH" dirty="0">
                <a:sym typeface="Wingdings" pitchFamily="2" charset="2"/>
              </a:rPr>
              <a:t> a </a:t>
            </a:r>
            <a:r>
              <a:rPr lang="fr-CH" dirty="0" err="1">
                <a:sym typeface="Wingdings" pitchFamily="2" charset="2"/>
              </a:rPr>
              <a:t>threshold</a:t>
            </a:r>
            <a:r>
              <a:rPr lang="fr-CH" dirty="0">
                <a:sym typeface="Wingdings" pitchFamily="2" charset="2"/>
              </a:rPr>
              <a:t> for the </a:t>
            </a:r>
            <a:r>
              <a:rPr lang="fr-CH" dirty="0" err="1">
                <a:sym typeface="Wingdings" pitchFamily="2" charset="2"/>
              </a:rPr>
              <a:t>number</a:t>
            </a:r>
            <a:r>
              <a:rPr lang="fr-CH" dirty="0">
                <a:sym typeface="Wingdings" pitchFamily="2" charset="2"/>
              </a:rPr>
              <a:t> of clusters. I.e. </a:t>
            </a:r>
            <a:r>
              <a:rPr lang="fr-CH" dirty="0" err="1">
                <a:sym typeface="Wingdings" pitchFamily="2" charset="2"/>
              </a:rPr>
              <a:t>what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is</a:t>
            </a:r>
            <a:r>
              <a:rPr lang="fr-CH" dirty="0">
                <a:sym typeface="Wingdings" pitchFamily="2" charset="2"/>
              </a:rPr>
              <a:t> the minimum </a:t>
            </a:r>
            <a:r>
              <a:rPr lang="fr-CH" dirty="0" err="1">
                <a:sym typeface="Wingdings" pitchFamily="2" charset="2"/>
              </a:rPr>
              <a:t>number</a:t>
            </a:r>
            <a:r>
              <a:rPr lang="fr-CH" dirty="0">
                <a:sym typeface="Wingdings" pitchFamily="2" charset="2"/>
              </a:rPr>
              <a:t> of clusters </a:t>
            </a:r>
            <a:r>
              <a:rPr lang="fr-CH" dirty="0" err="1">
                <a:sym typeface="Wingdings" pitchFamily="2" charset="2"/>
              </a:rPr>
              <a:t>assigned</a:t>
            </a:r>
            <a:r>
              <a:rPr lang="fr-CH" dirty="0">
                <a:sym typeface="Wingdings" pitchFamily="2" charset="2"/>
              </a:rPr>
              <a:t> to a </a:t>
            </a:r>
            <a:r>
              <a:rPr lang="fr-CH" dirty="0" err="1">
                <a:sym typeface="Wingdings" pitchFamily="2" charset="2"/>
              </a:rPr>
              <a:t>video</a:t>
            </a:r>
            <a:r>
              <a:rPr lang="fr-CH" dirty="0">
                <a:sym typeface="Wingdings" pitchFamily="2" charset="2"/>
              </a:rPr>
              <a:t> by DBSCAN </a:t>
            </a:r>
            <a:r>
              <a:rPr lang="fr-CH" dirty="0" err="1">
                <a:sym typeface="Wingdings" pitchFamily="2" charset="2"/>
              </a:rPr>
              <a:t>that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says</a:t>
            </a:r>
            <a:r>
              <a:rPr lang="fr-CH" dirty="0">
                <a:sym typeface="Wingdings" pitchFamily="2" charset="2"/>
              </a:rPr>
              <a:t> «</a:t>
            </a:r>
            <a:r>
              <a:rPr lang="fr-CH" dirty="0" err="1">
                <a:sym typeface="Wingdings" pitchFamily="2" charset="2"/>
              </a:rPr>
              <a:t>this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video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is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dynamic</a:t>
            </a:r>
            <a:r>
              <a:rPr lang="fr-CH" dirty="0">
                <a:sym typeface="Wingdings" pitchFamily="2" charset="2"/>
              </a:rPr>
              <a:t>» ?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fr-CH" dirty="0" err="1">
                <a:sym typeface="Wingdings" pitchFamily="2" charset="2"/>
              </a:rPr>
              <a:t>Approach</a:t>
            </a:r>
            <a:r>
              <a:rPr lang="fr-CH" dirty="0">
                <a:sym typeface="Wingdings" pitchFamily="2" charset="2"/>
              </a:rPr>
              <a:t>: Run DBSCAN on the </a:t>
            </a:r>
            <a:r>
              <a:rPr lang="fr-CH" dirty="0" err="1">
                <a:sym typeface="Wingdings" pitchFamily="2" charset="2"/>
              </a:rPr>
              <a:t>current</a:t>
            </a:r>
            <a:r>
              <a:rPr lang="fr-CH" dirty="0">
                <a:sym typeface="Wingdings" pitchFamily="2" charset="2"/>
              </a:rPr>
              <a:t> </a:t>
            </a:r>
            <a:r>
              <a:rPr lang="fr-CH" dirty="0" err="1">
                <a:sym typeface="Wingdings" pitchFamily="2" charset="2"/>
              </a:rPr>
              <a:t>dataset</a:t>
            </a:r>
            <a:r>
              <a:rPr lang="fr-CH" dirty="0">
                <a:sym typeface="Wingdings" pitchFamily="2" charset="2"/>
              </a:rPr>
              <a:t> of 12,000 </a:t>
            </a:r>
            <a:r>
              <a:rPr lang="fr-CH" dirty="0" err="1">
                <a:sym typeface="Wingdings" pitchFamily="2" charset="2"/>
              </a:rPr>
              <a:t>videos</a:t>
            </a:r>
            <a:endParaRPr lang="fr-CH" dirty="0">
              <a:sym typeface="Wingdings" pitchFamily="2" charset="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fr-CH" i="1" dirty="0">
                <a:sym typeface="Wingdings" pitchFamily="2" charset="2"/>
              </a:rPr>
              <a:t>I dont </a:t>
            </a:r>
            <a:r>
              <a:rPr lang="fr-CH" i="1" dirty="0" err="1">
                <a:sym typeface="Wingdings" pitchFamily="2" charset="2"/>
              </a:rPr>
              <a:t>remember</a:t>
            </a:r>
            <a:r>
              <a:rPr lang="fr-CH" i="1" dirty="0">
                <a:sym typeface="Wingdings" pitchFamily="2" charset="2"/>
              </a:rPr>
              <a:t> </a:t>
            </a:r>
            <a:r>
              <a:rPr lang="fr-CH" i="1" dirty="0" err="1">
                <a:sym typeface="Wingdings" pitchFamily="2" charset="2"/>
              </a:rPr>
              <a:t>why</a:t>
            </a:r>
            <a:r>
              <a:rPr lang="fr-CH" i="1" dirty="0">
                <a:sym typeface="Wingdings" pitchFamily="2" charset="2"/>
              </a:rPr>
              <a:t> </a:t>
            </a:r>
            <a:r>
              <a:rPr lang="fr-CH" i="1" dirty="0" err="1">
                <a:sym typeface="Wingdings" pitchFamily="2" charset="2"/>
              </a:rPr>
              <a:t>we</a:t>
            </a:r>
            <a:r>
              <a:rPr lang="fr-CH" i="1" dirty="0">
                <a:sym typeface="Wingdings" pitchFamily="2" charset="2"/>
              </a:rPr>
              <a:t> chose 4 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1D68C4-8DB8-662D-A132-FA8EEA83B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7718424" cy="1164368"/>
          </a:xfrm>
        </p:spPr>
        <p:txBody>
          <a:bodyPr>
            <a:normAutofit/>
          </a:bodyPr>
          <a:lstStyle/>
          <a:p>
            <a:r>
              <a:rPr lang="fr-CH" dirty="0" err="1"/>
              <a:t>Selection</a:t>
            </a:r>
            <a:r>
              <a:rPr lang="fr-CH" dirty="0"/>
              <a:t> of Cluster-Count </a:t>
            </a:r>
            <a:r>
              <a:rPr lang="fr-CH" dirty="0" err="1"/>
              <a:t>threshold</a:t>
            </a:r>
            <a:r>
              <a:rPr lang="fr-CH" dirty="0"/>
              <a:t> for Reliable Identification of Dynamic </a:t>
            </a:r>
            <a:r>
              <a:rPr lang="fr-CH" dirty="0" err="1"/>
              <a:t>Videos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6798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904875" y="1563688"/>
            <a:ext cx="7646988" cy="2716212"/>
          </a:xfr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sz="1600" dirty="0"/>
              <a:t>Sample candidate clip → embed → DBSCAN → keep if </a:t>
            </a:r>
            <a:r>
              <a:rPr sz="1600" dirty="0" err="1"/>
              <a:t>n_clusters</a:t>
            </a:r>
            <a:r>
              <a:rPr sz="1600" dirty="0"/>
              <a:t> ≥ </a:t>
            </a:r>
            <a:r>
              <a:rPr lang="fr-CH" sz="1600" dirty="0"/>
              <a:t>4</a:t>
            </a:r>
            <a:r>
              <a:rPr sz="1600" dirty="0"/>
              <a:t>, else retry (up to 10 tries per source video)</a:t>
            </a:r>
          </a:p>
          <a:p>
            <a:pPr>
              <a:lnSpc>
                <a:spcPct val="150000"/>
              </a:lnSpc>
            </a:pPr>
            <a:r>
              <a:rPr sz="1600" dirty="0"/>
              <a:t>Minimum duration 3.2s (5th percentile duration for 4-cluster clips)</a:t>
            </a:r>
            <a:r>
              <a:rPr lang="fr-CH" sz="1600" dirty="0"/>
              <a:t> : </a:t>
            </a:r>
            <a:r>
              <a:rPr lang="fr-CH" sz="1600" i="1" dirty="0"/>
              <a:t>PLOT </a:t>
            </a:r>
            <a:endParaRPr sz="1600" dirty="0"/>
          </a:p>
          <a:p>
            <a:pPr>
              <a:lnSpc>
                <a:spcPct val="150000"/>
              </a:lnSpc>
            </a:pPr>
            <a:r>
              <a:rPr sz="1600" dirty="0"/>
              <a:t>2,000 new clips for train, 200 for test</a:t>
            </a:r>
          </a:p>
          <a:p>
            <a:pPr>
              <a:lnSpc>
                <a:spcPct val="150000"/>
              </a:lnSpc>
            </a:pPr>
            <a:r>
              <a:rPr sz="1600" dirty="0"/>
              <a:t>Human report data collected on all new clips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Generating Dynamic Clips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904875" y="1203786"/>
            <a:ext cx="7646988" cy="1796590"/>
          </a:xfrm>
        </p:spPr>
        <p:txBody>
          <a:bodyPr wrap="square"/>
          <a:lstStyle/>
          <a:p>
            <a:pPr>
              <a:lnSpc>
                <a:spcPct val="150000"/>
              </a:lnSpc>
            </a:pPr>
            <a:r>
              <a:rPr sz="1600" dirty="0"/>
              <a:t>Compare: original model vs. model retrained on the enriched dataset (12,000+2,000</a:t>
            </a:r>
            <a:r>
              <a:rPr lang="fr-CH" sz="1600" dirty="0"/>
              <a:t>)</a:t>
            </a:r>
          </a:p>
          <a:p>
            <a:pPr>
              <a:lnSpc>
                <a:spcPct val="150000"/>
              </a:lnSpc>
            </a:pPr>
            <a:r>
              <a:rPr lang="fr-CH" sz="1600" i="1" dirty="0" err="1"/>
              <a:t>Why</a:t>
            </a:r>
            <a:r>
              <a:rPr lang="fr-CH" sz="1600" i="1" dirty="0"/>
              <a:t> 2000 ?</a:t>
            </a:r>
          </a:p>
          <a:p>
            <a:pPr>
              <a:lnSpc>
                <a:spcPct val="150000"/>
              </a:lnSpc>
            </a:pPr>
            <a:r>
              <a:rPr sz="1600" dirty="0"/>
              <a:t>Evaluated on the enriched test set</a:t>
            </a:r>
            <a:r>
              <a:rPr lang="fr-CH" sz="1600" dirty="0"/>
              <a:t> </a:t>
            </a:r>
            <a:r>
              <a:rPr lang="en-GB" sz="1600" dirty="0"/>
              <a:t>(602+200)</a:t>
            </a:r>
          </a:p>
          <a:p>
            <a:pPr>
              <a:lnSpc>
                <a:spcPct val="150000"/>
              </a:lnSpc>
            </a:pPr>
            <a:endParaRPr sz="1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Does Enrichment Improve Alignment?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58290"/>
            <a:ext cx="7315200" cy="201168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i="1">
                <a:solidFill>
                  <a:srgbClr val="413C3A"/>
                </a:solidFill>
                <a:latin typeface="Franklin Gothic Medium"/>
              </a:rPr>
              <a:t>[ PLOT: MSE — original model vs. enriched-trained model, on enriched test set (scheduled to run) 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r>
              <a:rPr sz="1600"/>
              <a:t>To isolate the effect of dynamic content — not just “more data” — repeat the comparison with the enriched training set subsampled to match the original size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Controlling for Dataset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7315200" cy="219456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i="1">
                <a:solidFill>
                  <a:srgbClr val="413C3A"/>
                </a:solidFill>
                <a:latin typeface="Franklin Gothic Medium"/>
              </a:rPr>
              <a:t>[ PLOT: MSE — same comparison, training-set size matched (not yet run) 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 dirty="0">
                <a:solidFill>
                  <a:srgbClr val="CBE1DF"/>
                </a:solidFill>
              </a:rPr>
              <a:t>Context</a:t>
            </a:r>
          </a:p>
          <a:p>
            <a:r>
              <a:rPr sz="1800" dirty="0">
                <a:solidFill>
                  <a:srgbClr val="CBE1DF"/>
                </a:solidFill>
              </a:rPr>
              <a:t>Part 1 — Enriching the Dataset</a:t>
            </a:r>
          </a:p>
          <a:p>
            <a:r>
              <a:rPr sz="1800" b="1" dirty="0"/>
              <a:t>Part 2 — Optimization &amp; Benchmarking</a:t>
            </a:r>
          </a:p>
          <a:p>
            <a:r>
              <a:rPr sz="1800" dirty="0">
                <a:solidFill>
                  <a:srgbClr val="CBE1DF"/>
                </a:solidFill>
              </a:rPr>
              <a:t>Part 3 — What Does the Model Use?</a:t>
            </a:r>
          </a:p>
          <a:p>
            <a:r>
              <a:rPr sz="1800" dirty="0">
                <a:solidFill>
                  <a:srgbClr val="CBE1DF"/>
                </a:solidFill>
              </a:rPr>
              <a:t>Conclusion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04875" y="131033"/>
            <a:ext cx="6740525" cy="874808"/>
          </a:xfrm>
        </p:spPr>
        <p:txBody>
          <a:bodyPr/>
          <a:lstStyle/>
          <a:p>
            <a:r>
              <a:rPr dirty="0"/>
              <a:t>What We Tried to Improve </a:t>
            </a:r>
            <a:r>
              <a:rPr lang="fr-CH" dirty="0"/>
              <a:t>Performance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636897"/>
              </p:ext>
            </p:extLst>
          </p:nvPr>
        </p:nvGraphicFramePr>
        <p:xfrm>
          <a:off x="365760" y="736600"/>
          <a:ext cx="8486140" cy="4103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3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3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3668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Franklin Gothic Medium"/>
                        </a:rPr>
                        <a:t>Method</a:t>
                      </a:r>
                    </a:p>
                  </a:txBody>
                  <a:tcPr>
                    <a:solidFill>
                      <a:srgbClr val="413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Franklin Gothic Medium"/>
                        </a:rPr>
                        <a:t>Result</a:t>
                      </a:r>
                    </a:p>
                  </a:txBody>
                  <a:tcPr>
                    <a:solidFill>
                      <a:srgbClr val="413C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668">
                <a:tc>
                  <a:txBody>
                    <a:bodyPr/>
                    <a:lstStyle/>
                    <a:p>
                      <a:pPr algn="l"/>
                      <a:r>
                        <a:rPr lang="fr-CH" sz="1200" dirty="0" err="1">
                          <a:latin typeface="Franklin Gothic Medium"/>
                        </a:rPr>
                        <a:t>Encoders</a:t>
                      </a:r>
                      <a:endParaRPr sz="1200" dirty="0">
                        <a:latin typeface="Franklin Gothic Mediu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CH" sz="1200" dirty="0" err="1">
                          <a:latin typeface="Franklin Gothic Medium"/>
                        </a:rPr>
                        <a:t>Identified</a:t>
                      </a:r>
                      <a:r>
                        <a:rPr lang="fr-CH" sz="1200" dirty="0">
                          <a:latin typeface="Franklin Gothic Medium"/>
                        </a:rPr>
                        <a:t> the frame-</a:t>
                      </a:r>
                      <a:r>
                        <a:rPr lang="fr-CH" sz="1200" dirty="0" err="1">
                          <a:latin typeface="Franklin Gothic Medium"/>
                        </a:rPr>
                        <a:t>based</a:t>
                      </a:r>
                      <a:r>
                        <a:rPr lang="fr-CH" sz="1200" dirty="0">
                          <a:latin typeface="Franklin Gothic Medium"/>
                        </a:rPr>
                        <a:t> and </a:t>
                      </a:r>
                      <a:r>
                        <a:rPr lang="fr-CH" sz="1200" dirty="0" err="1">
                          <a:latin typeface="Franklin Gothic Medium"/>
                        </a:rPr>
                        <a:t>video-based</a:t>
                      </a:r>
                      <a:r>
                        <a:rPr lang="fr-CH" sz="1200" dirty="0">
                          <a:latin typeface="Franklin Gothic Medium"/>
                        </a:rPr>
                        <a:t> </a:t>
                      </a:r>
                      <a:r>
                        <a:rPr lang="fr-CH" sz="1200" dirty="0" err="1">
                          <a:latin typeface="Franklin Gothic Medium"/>
                        </a:rPr>
                        <a:t>encoders</a:t>
                      </a:r>
                      <a:r>
                        <a:rPr lang="fr-CH" sz="1200" dirty="0">
                          <a:latin typeface="Franklin Gothic Medium"/>
                        </a:rPr>
                        <a:t> </a:t>
                      </a:r>
                      <a:r>
                        <a:rPr lang="fr-CH" sz="1200" dirty="0" err="1">
                          <a:latin typeface="Franklin Gothic Medium"/>
                        </a:rPr>
                        <a:t>with</a:t>
                      </a:r>
                      <a:r>
                        <a:rPr lang="fr-CH" sz="1200" dirty="0">
                          <a:latin typeface="Franklin Gothic Medium"/>
                        </a:rPr>
                        <a:t> the performance (MSE)</a:t>
                      </a:r>
                      <a:endParaRPr sz="1200" dirty="0">
                        <a:latin typeface="Franklin Gothic Mediu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771511"/>
                  </a:ext>
                </a:extLst>
              </a:tr>
              <a:tr h="683668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Franklin Gothic Medium"/>
                        </a:rPr>
                        <a:t>Tubing (spatial mask on pooler attention)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Franklin Gothic Medium"/>
                        </a:rPr>
                        <a:t>Hurt performance — masks the pooler's attention, not the encoder's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0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Franklin Gothic Medium"/>
                        </a:rPr>
                        <a:t>Random frame dropping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Franklin Gothic Medium"/>
                        </a:rPr>
                        <a:t>Bug caught &amp; fixed (was dropping padded frames too); then helped DINOv2/V-JEPA2 but hurt ResNet-50 → dropped for consistency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66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Franklin Gothic Medium"/>
                        </a:rPr>
                        <a:t>Removing static videos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Franklin Gothic Medium"/>
                        </a:rPr>
                        <a:t>Inconclusive at pilot 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66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Franklin Gothic Medium"/>
                        </a:rPr>
                        <a:t>Rare-category upsampling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Franklin Gothic Medium"/>
                        </a:rPr>
                        <a:t>Repeat-factor sampling adopted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904875" y="1203785"/>
            <a:ext cx="7667625" cy="2589212"/>
          </a:xfr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sz="1600" dirty="0"/>
              <a:t>Goal: identify the best frame-based model and best video-based model → used for every </a:t>
            </a:r>
            <a:r>
              <a:rPr lang="fr-CH" sz="1600" dirty="0" err="1"/>
              <a:t>subsequent</a:t>
            </a:r>
            <a:r>
              <a:rPr lang="fr-CH" sz="1600" dirty="0"/>
              <a:t> </a:t>
            </a:r>
            <a:r>
              <a:rPr lang="fr-CH" sz="1600" dirty="0" err="1"/>
              <a:t>analysis</a:t>
            </a:r>
            <a:endParaRPr sz="1600" dirty="0"/>
          </a:p>
          <a:p>
            <a:pPr>
              <a:lnSpc>
                <a:spcPct val="150000"/>
              </a:lnSpc>
            </a:pPr>
            <a:r>
              <a:rPr sz="1600" dirty="0"/>
              <a:t>For each encoder: grid search over learning rate {1e-3, 1e-4} and weight decay {0.01, 0.8}</a:t>
            </a:r>
          </a:p>
          <a:p>
            <a:pPr>
              <a:lnSpc>
                <a:spcPct val="150000"/>
              </a:lnSpc>
            </a:pPr>
            <a:r>
              <a:rPr sz="1600" dirty="0"/>
              <a:t>Compared along multiple axes: scale, robustness, architecture family, release date</a:t>
            </a:r>
            <a:r>
              <a:rPr lang="fr-CH" sz="1600" dirty="0"/>
              <a:t>…</a:t>
            </a:r>
            <a:endParaRPr sz="1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Benchmarking Encoders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Benchmarking Results (I)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023360" cy="329184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i="1">
                <a:solidFill>
                  <a:srgbClr val="413C3A"/>
                </a:solidFill>
                <a:latin typeface="Franklin Gothic Medium"/>
              </a:rPr>
              <a:t>[ PLOT: Performance vs. number of parameters</a:t>
            </a:r>
            <a:br/>
            <a:r>
              <a:rPr sz="1300" i="1">
                <a:solidFill>
                  <a:srgbClr val="413C3A"/>
                </a:solidFill>
                <a:latin typeface="Franklin Gothic Medium"/>
              </a:rPr>
              <a:t>(DINOv2 small/base/large/giant) ]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005840"/>
            <a:ext cx="4023360" cy="329184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i="1">
                <a:solidFill>
                  <a:srgbClr val="413C3A"/>
                </a:solidFill>
                <a:latin typeface="Franklin Gothic Medium"/>
              </a:rPr>
              <a:t>[ PLOT: Performance vs. publication date</a:t>
            </a:r>
            <a:br/>
            <a:r>
              <a:rPr sz="1300" i="1">
                <a:solidFill>
                  <a:srgbClr val="413C3A"/>
                </a:solidFill>
                <a:latin typeface="Franklin Gothic Medium"/>
              </a:rPr>
              <a:t>(all benchmarked encoders) 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Benchmarking Results (II)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023360" cy="329184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i="1">
                <a:solidFill>
                  <a:srgbClr val="413C3A"/>
                </a:solidFill>
                <a:latin typeface="Franklin Gothic Medium"/>
              </a:rPr>
              <a:t>[ PLOT: Robust vs. normal</a:t>
            </a:r>
            <a:br/>
            <a:r>
              <a:rPr sz="1300" i="1">
                <a:solidFill>
                  <a:srgbClr val="413C3A"/>
                </a:solidFill>
                <a:latin typeface="Franklin Gothic Medium"/>
              </a:rPr>
              <a:t>(DINOv2 vs. DINOv2-robust, matched by size) ]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005840"/>
            <a:ext cx="4023360" cy="329184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i="1">
                <a:solidFill>
                  <a:srgbClr val="413C3A"/>
                </a:solidFill>
                <a:latin typeface="Franklin Gothic Medium"/>
              </a:rPr>
              <a:t>[ PLOT: CNN vs. Transformer (frame-based)</a:t>
            </a:r>
            <a:br/>
            <a:r>
              <a:rPr sz="1300" i="1">
                <a:solidFill>
                  <a:srgbClr val="413C3A"/>
                </a:solidFill>
                <a:latin typeface="Franklin Gothic Medium"/>
              </a:rPr>
              <a:t>(ConvNeXt vs. DINOv2/DINOv3/ViT) 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Frame-Based vs. Video-Based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914400"/>
            <a:ext cx="6400800" cy="274320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i="1">
                <a:solidFill>
                  <a:srgbClr val="413C3A"/>
                </a:solidFill>
                <a:latin typeface="Franklin Gothic Medium"/>
              </a:rPr>
              <a:t>[ PLOT: DINOv2 vs. V-JEPA2 ]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Franklin Gothic Medium"/>
              </a:rPr>
              <a:t>→ DINOv2 and V-JEPA2 selected as the best frame-based / video-based models for Part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 lnSpcReduction="10000"/>
          </a:bodyPr>
          <a:lstStyle/>
          <a:p>
            <a:r>
              <a:rPr sz="1800" dirty="0">
                <a:solidFill>
                  <a:srgbClr val="CBE1DF"/>
                </a:solidFill>
              </a:rPr>
              <a:t>Context</a:t>
            </a:r>
          </a:p>
          <a:p>
            <a:r>
              <a:rPr sz="1800" dirty="0">
                <a:solidFill>
                  <a:srgbClr val="CBE1DF"/>
                </a:solidFill>
              </a:rPr>
              <a:t>Part 1 — Enriching the Dataset</a:t>
            </a:r>
          </a:p>
          <a:p>
            <a:r>
              <a:rPr sz="1800" dirty="0">
                <a:solidFill>
                  <a:srgbClr val="CBE1DF"/>
                </a:solidFill>
              </a:rPr>
              <a:t>Part 2 — Optimization &amp; Benchmarking</a:t>
            </a:r>
          </a:p>
          <a:p>
            <a:r>
              <a:rPr sz="1800" b="1" dirty="0"/>
              <a:t>Part 3 — What Does the Model Use?</a:t>
            </a:r>
          </a:p>
          <a:p>
            <a:r>
              <a:rPr sz="1800" dirty="0">
                <a:solidFill>
                  <a:srgbClr val="CBE1DF"/>
                </a:solidFill>
              </a:rPr>
              <a:t>Conclusion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r>
              <a:rPr sz="1400"/>
              <a:t>3 conditions per model: full clip, shuffled frames, last frame only</a:t>
            </a:r>
          </a:p>
          <a:p>
            <a:r>
              <a:rPr sz="1400"/>
              <a:t>Plus human last-frame baseline and split-half noise floor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Does the Model Use Sensory History?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8046720" cy="265176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i="1">
                <a:solidFill>
                  <a:srgbClr val="413C3A"/>
                </a:solidFill>
                <a:latin typeface="Franklin Gothic Medium"/>
              </a:rPr>
              <a:t>[ PLOT: MSE vs. video duration — full clip / shuffled / last frame, DINOv2 &amp; V-JEPA2 + human + noise floor 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r>
              <a:rPr sz="1600"/>
              <a:t>Restrict to low-dynamicity clips (0-2 clusters) to reduce the risk that “last frame” misses content shown earlier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Controlling for Coverage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i="1">
                <a:solidFill>
                  <a:srgbClr val="413C3A"/>
                </a:solidFill>
                <a:latin typeface="Franklin Gothic Medium"/>
              </a:rPr>
              <a:t>[ PLOT: Same plot, restricted to low-dynamicity videos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13C3A"/>
                </a:solidFill>
                <a:latin typeface="Franklin Gothic Medium"/>
              </a:rPr>
              <a:t>Finding: gap shrinks but a real residual remains → evidence of genuine temporal integration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the Model Invariant to Shuffling?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840480" cy="1188720"/>
          </a:xfrm>
          <a:prstGeom prst="roundRect">
            <a:avLst/>
          </a:prstGeom>
          <a:solidFill>
            <a:srgbClr val="413C3A"/>
          </a:solidFill>
          <a:ln>
            <a:solidFill>
              <a:srgbClr val="413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Franklin Gothic Medium"/>
              </a:rPr>
              <a:t>DINOv2: each frame</a:t>
            </a:r>
            <a:br/>
            <a:r>
              <a:rPr sz="1200" b="1">
                <a:solidFill>
                  <a:srgbClr val="FFFFFF"/>
                </a:solidFill>
                <a:latin typeface="Franklin Gothic Medium"/>
              </a:rPr>
              <a:t>encoded independently</a:t>
            </a:r>
            <a:br/>
            <a:r>
              <a:rPr sz="1200" b="1">
                <a:solidFill>
                  <a:srgbClr val="FFFFFF"/>
                </a:solidFill>
                <a:latin typeface="Franklin Gothic Medium"/>
              </a:rPr>
              <a:t>(no cross-frame attention)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05840"/>
            <a:ext cx="3840480" cy="1188720"/>
          </a:xfrm>
          <a:prstGeom prst="roundRect">
            <a:avLst/>
          </a:prstGeom>
          <a:solidFill>
            <a:srgbClr val="00A79F"/>
          </a:solidFill>
          <a:ln>
            <a:solidFill>
              <a:srgbClr val="00A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Franklin Gothic Medium"/>
              </a:rPr>
              <a:t>Pooler: no positional</a:t>
            </a:r>
            <a:br/>
            <a:r>
              <a:rPr sz="1200" b="1">
                <a:solidFill>
                  <a:srgbClr val="FFFFFF"/>
                </a:solidFill>
                <a:latin typeface="Franklin Gothic Medium"/>
              </a:rPr>
              <a:t>embedding, for either model</a:t>
            </a:r>
          </a:p>
        </p:txBody>
      </p:sp>
      <p:sp>
        <p:nvSpPr>
          <p:cNvPr id="7" name="Down Arrow 6"/>
          <p:cNvSpPr/>
          <p:nvPr/>
        </p:nvSpPr>
        <p:spPr>
          <a:xfrm>
            <a:off x="2194560" y="2286000"/>
            <a:ext cx="274320" cy="320040"/>
          </a:xfrm>
          <a:prstGeom prst="downArrow">
            <a:avLst/>
          </a:prstGeom>
          <a:solidFill>
            <a:srgbClr val="413C3A"/>
          </a:solidFill>
          <a:ln>
            <a:solidFill>
              <a:srgbClr val="413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own Arrow 7"/>
          <p:cNvSpPr/>
          <p:nvPr/>
        </p:nvSpPr>
        <p:spPr>
          <a:xfrm>
            <a:off x="6492240" y="2286000"/>
            <a:ext cx="274320" cy="320040"/>
          </a:xfrm>
          <a:prstGeom prst="downArrow">
            <a:avLst/>
          </a:prstGeom>
          <a:solidFill>
            <a:srgbClr val="413C3A"/>
          </a:solidFill>
          <a:ln>
            <a:solidFill>
              <a:srgbClr val="413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8138160" cy="731520"/>
          </a:xfrm>
          <a:prstGeom prst="roundRect">
            <a:avLst/>
          </a:prstGeom>
          <a:solidFill>
            <a:srgbClr val="B51F1F"/>
          </a:solidFill>
          <a:ln>
            <a:solidFill>
              <a:srgbClr val="B5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Franklin Gothic Medium"/>
              </a:rPr>
              <a:t>DINOv2 + pooler is mathematically permutation-invariant to frame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13C3A"/>
                </a:solidFill>
                <a:latin typeface="Franklin Gothic Medium"/>
              </a:rPr>
              <a:t>We didn't build the architecture to include positional embeddings anywhere — a deliberate simplicity choice, not originally meant to explain the shuffle results.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r>
              <a:rPr sz="1600"/>
              <a:t>The shuffling results raise the question of whether the missing positional embedding matters</a:t>
            </a:r>
          </a:p>
          <a:p>
            <a:r>
              <a:rPr sz="1600"/>
              <a:t>Testing: add a positional embedding to the pooler, retrain DINOv2-small as a first, low-cost test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Does Positional Embedding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30613"/>
                </a:solidFill>
                <a:latin typeface="Franklin Gothic Medium"/>
              </a:rPr>
              <a:t>[ PLANNED — not yet run 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r>
              <a:rPr sz="1600"/>
              <a:t>Beyond the general held-out test set: run DINOv2 &amp; V-JEPA2 on curated diagnostic video sets</a:t>
            </a:r>
          </a:p>
          <a:p>
            <a:r>
              <a:rPr sz="1600"/>
              <a:t>Example: clips where an object appears, disappears, then reappears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Suite: Object Permanence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8046720" cy="182880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i="1">
                <a:solidFill>
                  <a:srgbClr val="413C3A"/>
                </a:solidFill>
                <a:latin typeface="Franklin Gothic Medium"/>
              </a:rPr>
              <a:t>[ PLOT: MSE / predicted report rate on the object-permanence benchmark set, both models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7480"/>
                </a:solidFill>
                <a:latin typeface="Franklin Gothic Medium"/>
              </a:rPr>
              <a:t>An early, complementary read on H3 (object permanence) — ahead of the full truncation-based experiment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r>
              <a:rPr sz="1600"/>
              <a:t>Predicted (and human, where available) report rate per category, as more of an example clip is revealed</a:t>
            </a:r>
          </a:p>
          <a:p>
            <a:r>
              <a:rPr sz="1600"/>
              <a:t>Only categories relevant to that clip's narrative are shown — not all 12 — to keep the trajectory readable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Visualization: Report Rate Through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14600"/>
            <a:ext cx="8046720" cy="1920240"/>
          </a:xfrm>
          <a:prstGeom prst="rect">
            <a:avLst/>
          </a:prstGeom>
          <a:solidFill>
            <a:srgbClr val="F2F1F0"/>
          </a:solidFill>
          <a:ln w="15875">
            <a:solidFill>
              <a:srgbClr val="CAC7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i="1">
                <a:solidFill>
                  <a:srgbClr val="413C3A"/>
                </a:solidFill>
                <a:latin typeface="Franklin Gothic Medium"/>
              </a:rPr>
              <a:t>[ PLOT: Report rate vs. time, relevant categories only — same example clip as the object-permanence benchmark 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 wrap="square">
            <a:normAutofit fontScale="85000" lnSpcReduction="10000"/>
          </a:bodyPr>
          <a:lstStyle/>
          <a:p>
            <a:r>
              <a:rPr sz="1600" dirty="0"/>
              <a:t>H2 — motion as an attention cue: reverse playback, moving/static region masking via optical flow</a:t>
            </a:r>
          </a:p>
          <a:p>
            <a:r>
              <a:rPr sz="1600" dirty="0"/>
              <a:t>H3 — object permanence: full truncation-based design (does prediction persist/decay/drop after disappearance?)</a:t>
            </a:r>
          </a:p>
          <a:p>
            <a:r>
              <a:rPr sz="1600" dirty="0"/>
              <a:t>Designed (PART 2.docx); H3 already has an early read from the benchmark suite above</a:t>
            </a:r>
            <a:endParaRPr lang="fr-CH" sz="1600" dirty="0"/>
          </a:p>
          <a:p>
            <a:r>
              <a:rPr lang="en-CH" sz="1600" dirty="0"/>
              <a:t>Top-down analysis</a:t>
            </a:r>
            <a:endParaRPr sz="1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Next: H2 &amp; H3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13C3A"/>
                </a:solidFill>
                <a:latin typeface="Franklin Gothic Medium"/>
              </a:rPr>
              <a:t>Part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651760" cy="502920"/>
          </a:xfrm>
          <a:prstGeom prst="roundRect">
            <a:avLst/>
          </a:prstGeom>
          <a:solidFill>
            <a:srgbClr val="E4F5F3"/>
          </a:solidFill>
          <a:ln w="12700">
            <a:solidFill>
              <a:srgbClr val="00A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45720" rtlCol="0" anchor="ctr"/>
          <a:lstStyle/>
          <a:p>
            <a:pPr algn="l"/>
            <a:r>
              <a:rPr sz="1200" b="1">
                <a:solidFill>
                  <a:srgbClr val="413C3A"/>
                </a:solidFill>
                <a:latin typeface="Franklin Gothic Medium"/>
              </a:rPr>
              <a:t>Dynamicity metric</a:t>
            </a:r>
          </a:p>
          <a:p>
            <a:pPr algn="l"/>
            <a:r>
              <a:rPr sz="1100" b="0" i="1">
                <a:solidFill>
                  <a:srgbClr val="00A79F"/>
                </a:solidFill>
                <a:latin typeface="Franklin Gothic Medium"/>
              </a:rPr>
              <a:t>✅ Done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2651760" cy="502920"/>
          </a:xfrm>
          <a:prstGeom prst="roundRect">
            <a:avLst/>
          </a:prstGeom>
          <a:solidFill>
            <a:srgbClr val="FDEFE5"/>
          </a:solidFill>
          <a:ln w="12700">
            <a:solidFill>
              <a:srgbClr val="F39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45720" rtlCol="0" anchor="ctr"/>
          <a:lstStyle/>
          <a:p>
            <a:pPr algn="l"/>
            <a:r>
              <a:rPr sz="1200" b="1">
                <a:solidFill>
                  <a:srgbClr val="413C3A"/>
                </a:solidFill>
                <a:latin typeface="Franklin Gothic Medium"/>
              </a:rPr>
              <a:t>Enrichment retrain</a:t>
            </a:r>
          </a:p>
          <a:p>
            <a:pPr algn="l"/>
            <a:r>
              <a:rPr sz="1100" b="0" i="1">
                <a:solidFill>
                  <a:srgbClr val="F39869"/>
                </a:solidFill>
                <a:latin typeface="Franklin Gothic Medium"/>
              </a:rPr>
              <a:t>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868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13C3A"/>
                </a:solidFill>
                <a:latin typeface="Franklin Gothic Medium"/>
              </a:rPr>
              <a:t>Part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188720"/>
            <a:ext cx="2651760" cy="502920"/>
          </a:xfrm>
          <a:prstGeom prst="roundRect">
            <a:avLst/>
          </a:prstGeom>
          <a:solidFill>
            <a:srgbClr val="E4F5F3"/>
          </a:solidFill>
          <a:ln w="12700">
            <a:solidFill>
              <a:srgbClr val="00A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45720" rtlCol="0" anchor="ctr"/>
          <a:lstStyle/>
          <a:p>
            <a:pPr algn="l"/>
            <a:r>
              <a:rPr sz="1200" b="1">
                <a:solidFill>
                  <a:srgbClr val="413C3A"/>
                </a:solidFill>
                <a:latin typeface="Franklin Gothic Medium"/>
              </a:rPr>
              <a:t>Optimization sweep</a:t>
            </a:r>
          </a:p>
          <a:p>
            <a:pPr algn="l"/>
            <a:r>
              <a:rPr sz="1100" b="0" i="1">
                <a:solidFill>
                  <a:srgbClr val="00A79F"/>
                </a:solidFill>
                <a:latin typeface="Franklin Gothic Medium"/>
              </a:rPr>
              <a:t>✅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783080"/>
            <a:ext cx="2651760" cy="502920"/>
          </a:xfrm>
          <a:prstGeom prst="roundRect">
            <a:avLst/>
          </a:prstGeom>
          <a:solidFill>
            <a:srgbClr val="FDEFE5"/>
          </a:solidFill>
          <a:ln w="12700">
            <a:solidFill>
              <a:srgbClr val="F39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45720" rtlCol="0" anchor="ctr"/>
          <a:lstStyle/>
          <a:p>
            <a:pPr algn="l"/>
            <a:r>
              <a:rPr sz="1200" b="1">
                <a:solidFill>
                  <a:srgbClr val="413C3A"/>
                </a:solidFill>
                <a:latin typeface="Franklin Gothic Medium"/>
              </a:rPr>
              <a:t>Benchmarking</a:t>
            </a:r>
          </a:p>
          <a:p>
            <a:pPr algn="l"/>
            <a:r>
              <a:rPr sz="1100" b="0" i="1">
                <a:solidFill>
                  <a:srgbClr val="F39869"/>
                </a:solidFill>
                <a:latin typeface="Franklin Gothic Medium"/>
              </a:rPr>
              <a:t>In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868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13C3A"/>
                </a:solidFill>
                <a:latin typeface="Franklin Gothic Medium"/>
              </a:rPr>
              <a:t>Part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88720"/>
            <a:ext cx="2651760" cy="502920"/>
          </a:xfrm>
          <a:prstGeom prst="roundRect">
            <a:avLst/>
          </a:prstGeom>
          <a:solidFill>
            <a:srgbClr val="E4F5F3"/>
          </a:solidFill>
          <a:ln w="12700">
            <a:solidFill>
              <a:srgbClr val="00A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45720" rtlCol="0" anchor="ctr"/>
          <a:lstStyle/>
          <a:p>
            <a:pPr algn="l"/>
            <a:r>
              <a:rPr sz="1200" b="1">
                <a:solidFill>
                  <a:srgbClr val="413C3A"/>
                </a:solidFill>
                <a:latin typeface="Franklin Gothic Medium"/>
              </a:rPr>
              <a:t>H1 (duration/shuffle)</a:t>
            </a:r>
          </a:p>
          <a:p>
            <a:pPr algn="l"/>
            <a:r>
              <a:rPr sz="1100" b="0" i="1">
                <a:solidFill>
                  <a:srgbClr val="00A79F"/>
                </a:solidFill>
                <a:latin typeface="Franklin Gothic Medium"/>
              </a:rPr>
              <a:t>✅ 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83080"/>
            <a:ext cx="2651760" cy="502920"/>
          </a:xfrm>
          <a:prstGeom prst="roundRect">
            <a:avLst/>
          </a:prstGeom>
          <a:solidFill>
            <a:srgbClr val="FDEFE5"/>
          </a:solidFill>
          <a:ln w="12700">
            <a:solidFill>
              <a:srgbClr val="F39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45720" rtlCol="0" anchor="ctr"/>
          <a:lstStyle/>
          <a:p>
            <a:pPr algn="l"/>
            <a:r>
              <a:rPr sz="1200" b="1">
                <a:solidFill>
                  <a:srgbClr val="413C3A"/>
                </a:solidFill>
                <a:latin typeface="Franklin Gothic Medium"/>
              </a:rPr>
              <a:t>Positional embedding</a:t>
            </a:r>
          </a:p>
          <a:p>
            <a:pPr algn="l"/>
            <a:r>
              <a:rPr sz="1100" b="0" i="1">
                <a:solidFill>
                  <a:srgbClr val="F39869"/>
                </a:solidFill>
                <a:latin typeface="Franklin Gothic Medium"/>
              </a:rPr>
              <a:t>In 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377440"/>
            <a:ext cx="2651760" cy="502920"/>
          </a:xfrm>
          <a:prstGeom prst="roundRect">
            <a:avLst/>
          </a:prstGeom>
          <a:solidFill>
            <a:srgbClr val="FDEFE5"/>
          </a:solidFill>
          <a:ln w="12700">
            <a:solidFill>
              <a:srgbClr val="F39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45720" rtlCol="0" anchor="ctr"/>
          <a:lstStyle/>
          <a:p>
            <a:pPr algn="l"/>
            <a:r>
              <a:rPr sz="1200" b="1">
                <a:solidFill>
                  <a:srgbClr val="413C3A"/>
                </a:solidFill>
                <a:latin typeface="Franklin Gothic Medium"/>
              </a:rPr>
              <a:t>Benchmark suite / viz.</a:t>
            </a:r>
          </a:p>
          <a:p>
            <a:pPr algn="l"/>
            <a:r>
              <a:rPr sz="1100" b="0" i="1">
                <a:solidFill>
                  <a:srgbClr val="F39869"/>
                </a:solidFill>
                <a:latin typeface="Franklin Gothic Medium"/>
              </a:rPr>
              <a:t>Pending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971800"/>
            <a:ext cx="2651760" cy="502920"/>
          </a:xfrm>
          <a:prstGeom prst="roundRect">
            <a:avLst/>
          </a:prstGeom>
          <a:solidFill>
            <a:srgbClr val="F7E3E3"/>
          </a:solidFill>
          <a:ln w="12700">
            <a:solidFill>
              <a:srgbClr val="B5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45720" rtlCol="0" anchor="ctr"/>
          <a:lstStyle/>
          <a:p>
            <a:pPr algn="l"/>
            <a:r>
              <a:rPr sz="1200" b="1">
                <a:solidFill>
                  <a:srgbClr val="413C3A"/>
                </a:solidFill>
                <a:latin typeface="Franklin Gothic Medium"/>
              </a:rPr>
              <a:t>H2 &amp; H3 (full design)</a:t>
            </a:r>
          </a:p>
          <a:p>
            <a:pPr algn="l"/>
            <a:r>
              <a:rPr sz="1100" b="0" i="1">
                <a:solidFill>
                  <a:srgbClr val="B51F1F"/>
                </a:solidFill>
                <a:latin typeface="Franklin Gothic Medium"/>
              </a:rPr>
              <a:t>TBD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 wrap="square">
            <a:normAutofit fontScale="85000" lnSpcReduction="20000"/>
          </a:bodyPr>
          <a:lstStyle/>
          <a:p>
            <a:r>
              <a:rPr sz="1400"/>
              <a:t>Part 1: a validated, statistically robust dynamicity metric (DBSCAN) to curate training data — enrichment results pending</a:t>
            </a:r>
          </a:p>
          <a:p>
            <a:r>
              <a:rPr sz="1400"/>
              <a:t>Part 2: best frame-based (DINOv2) and video-based (V-JEPA2) models identified via systematic benchmarking</a:t>
            </a:r>
          </a:p>
          <a:p>
            <a:r>
              <a:rPr sz="1400"/>
              <a:t>Part 3: models rely on more than a single frame, but current architecture is invariant to frame order — raising a concrete next architectural question</a:t>
            </a:r>
          </a:p>
          <a:p>
            <a:r>
              <a:rPr sz="1400"/>
              <a:t>Next: positional embedding test, benchmark suite / visualization results, H2/H3, and eventually new human behavioral experiments (Part 3 of the thesis, future work)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for your attention!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/>
              <a:t>Context</a:t>
            </a:r>
          </a:p>
          <a:p>
            <a:r>
              <a:rPr sz="1800"/>
              <a:t>Part 1 — Enriching the Dataset</a:t>
            </a:r>
          </a:p>
          <a:p>
            <a:r>
              <a:rPr sz="1800"/>
              <a:t>Part 2 — Optimization &amp; Benchmarking</a:t>
            </a:r>
          </a:p>
          <a:p>
            <a:r>
              <a:rPr sz="1800"/>
              <a:t>Part 3 — What Does the Model Use?</a:t>
            </a:r>
          </a:p>
          <a:p>
            <a:r>
              <a:rPr sz="1800"/>
              <a:t>Conclusion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EPFL - New Colors 2019">
      <a:dk1>
        <a:srgbClr val="413C3A"/>
      </a:dk1>
      <a:lt1>
        <a:srgbClr val="FFFFFF"/>
      </a:lt1>
      <a:dk2>
        <a:srgbClr val="413C3A"/>
      </a:dk2>
      <a:lt2>
        <a:srgbClr val="CAC7C7"/>
      </a:lt2>
      <a:accent1>
        <a:srgbClr val="E30613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ED6E9C"/>
      </a:hlink>
      <a:folHlink>
        <a:srgbClr val="4F8FCC"/>
      </a:folHlink>
    </a:clrScheme>
    <a:fontScheme name="EPFL_Beta2">
      <a:majorFont>
        <a:latin typeface="Franklin Gothic Demi Cond"/>
        <a:ea typeface=""/>
        <a:cs typeface=""/>
      </a:majorFont>
      <a:minorFont>
        <a:latin typeface="Arial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EPFL_Beta2" id="{6A525B41-3E68-491F-A6C9-0B15EA1321FE}" vid="{993E2952-EB5D-4425-8012-1B04381EBC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FC127AB4946248A5685C1F92D54FFE" ma:contentTypeVersion="0" ma:contentTypeDescription="Crée un document." ma:contentTypeScope="" ma:versionID="ef3ff242486930b75c69099c0dd02c5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b09c1ba23edfaa45a5e9d385267c9b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6205E9-12FC-4D6C-B0C7-1E9025EEB1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8CE09B-89B1-4B5D-BED2-87C84F0777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48A6C70-7FF5-480A-B09B-7D0A19B2F43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Thème Office</Template>
  <TotalTime>6504</TotalTime>
  <Words>2193</Words>
  <Application>Microsoft Macintosh PowerPoint</Application>
  <PresentationFormat>On-screen Show (16:9)</PresentationFormat>
  <Paragraphs>214</Paragraphs>
  <Slides>39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Atlassian Sans</vt:lpstr>
      <vt:lpstr>Franklin Gothic Demi Cond</vt:lpstr>
      <vt:lpstr>Franklin Gothic Medium</vt:lpstr>
      <vt:lpstr>Wingdings</vt:lpstr>
      <vt:lpstr>Thème Office</vt:lpstr>
      <vt:lpstr>Human-Model Alignment in Dynamic Object Perception</vt:lpstr>
      <vt:lpstr>OUTLINE</vt:lpstr>
      <vt:lpstr>Dynamic Object Perception</vt:lpstr>
      <vt:lpstr>Task &amp; Data</vt:lpstr>
      <vt:lpstr>Model: Frozen Encoder + Trainable Probe</vt:lpstr>
      <vt:lpstr>OUTLINE</vt:lpstr>
      <vt:lpstr>Improve human-model alignment</vt:lpstr>
      <vt:lpstr>Why enrich the dataset with more dynamic videos?</vt:lpstr>
      <vt:lpstr>How do we identifiy &amp; produce dynamic videos?</vt:lpstr>
      <vt:lpstr>What is a dynamic video?</vt:lpstr>
      <vt:lpstr>Clip Sampling</vt:lpstr>
      <vt:lpstr>Embedding</vt:lpstr>
      <vt:lpstr>DSBCAN: the «dynamicity» metric</vt:lpstr>
      <vt:lpstr>Validating the Dynamicity Metric</vt:lpstr>
      <vt:lpstr>Sanity Checks</vt:lpstr>
      <vt:lpstr>Hyperparameter Optimization</vt:lpstr>
      <vt:lpstr>Hyperparameter Optimization: Results</vt:lpstr>
      <vt:lpstr>Method Validation</vt:lpstr>
      <vt:lpstr>Selection of Cluster-Count threshold for Reliable Identification of Dynamic Videos</vt:lpstr>
      <vt:lpstr>Generating Dynamic Clips</vt:lpstr>
      <vt:lpstr>Does Enrichment Improve Alignment?</vt:lpstr>
      <vt:lpstr>Controlling for Dataset Size</vt:lpstr>
      <vt:lpstr>OUTLINE</vt:lpstr>
      <vt:lpstr>What We Tried to Improve Performance</vt:lpstr>
      <vt:lpstr>Benchmarking Encoders</vt:lpstr>
      <vt:lpstr>Benchmarking Results (I)</vt:lpstr>
      <vt:lpstr>Benchmarking Results (II)</vt:lpstr>
      <vt:lpstr>Frame-Based vs. Video-Based</vt:lpstr>
      <vt:lpstr>OUTLINE</vt:lpstr>
      <vt:lpstr>Does the Model Use Sensory History?</vt:lpstr>
      <vt:lpstr>Controlling for Coverage Loss</vt:lpstr>
      <vt:lpstr>Why Is the Model Invariant to Shuffling?</vt:lpstr>
      <vt:lpstr>Next: Does Positional Embedding Matter?</vt:lpstr>
      <vt:lpstr>Benchmark Suite: Object Permanence</vt:lpstr>
      <vt:lpstr>Visualization: Report Rate Through Time</vt:lpstr>
      <vt:lpstr>What's Next: H2 &amp; H3</vt:lpstr>
      <vt:lpstr>Where We Are</vt:lpstr>
      <vt:lpstr>Conclusion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EPFL</dc:title>
  <dc:creator>Utilisateur Microsoft Office</dc:creator>
  <cp:lastModifiedBy>Masmoudi Aicha</cp:lastModifiedBy>
  <cp:revision>857</cp:revision>
  <dcterms:created xsi:type="dcterms:W3CDTF">2019-04-02T06:24:35Z</dcterms:created>
  <dcterms:modified xsi:type="dcterms:W3CDTF">2026-07-17T16:54:53Z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0x0101001BFC127AB4946248A5685C1F92D54FFE</vt:lpwstr>
  </property>
</Properties>
</file>